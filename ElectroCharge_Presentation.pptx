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88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0"/>
          </a:blip>
          <a:stretch>
            <a:fillRect/>
          </a:stretch>
        </p:blipFill>
        <p:spPr>
          <a:xfrm>
            <a:off x="6217920" y="274320"/>
            <a:ext cx="2560320" cy="2560320"/>
          </a:xfrm>
          <a:prstGeom prst="rect">
            <a:avLst/>
          </a:prstGeom>
        </p:spPr>
      </p:pic>
      <p:sp>
        <p:nvSpPr>
          <p:cNvPr id="3" name="Shape 0"/>
          <p:cNvSpPr/>
          <p:nvPr/>
        </p:nvSpPr>
        <p:spPr>
          <a:xfrm>
            <a:off x="0" y="0"/>
            <a:ext cx="109728" cy="5143500"/>
          </a:xfrm>
          <a:prstGeom prst="rect">
            <a:avLst/>
          </a:prstGeom>
          <a:solidFill>
            <a:srgbClr val="1E88E5"/>
          </a:solidFill>
          <a:ln w="12700">
            <a:solidFill>
              <a:srgbClr val="1E88E5"/>
            </a:solidFill>
            <a:prstDash val="solid"/>
          </a:ln>
        </p:spPr>
        <p:txBody>
          <a:bodyPr/>
          <a:lstStyle/>
          <a:p>
            <a:endParaRPr lang="fr-FR"/>
          </a:p>
        </p:txBody>
      </p:sp>
      <p:sp>
        <p:nvSpPr>
          <p:cNvPr id="4" name="Text 1"/>
          <p:cNvSpPr/>
          <p:nvPr/>
        </p:nvSpPr>
        <p:spPr>
          <a:xfrm>
            <a:off x="320040" y="731520"/>
            <a:ext cx="8229600" cy="109728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ElectroCharge</a:t>
            </a:r>
            <a:endParaRPr lang="en-US" sz="5600" dirty="0"/>
          </a:p>
        </p:txBody>
      </p:sp>
      <p:sp>
        <p:nvSpPr>
          <p:cNvPr id="5" name="Text 2"/>
          <p:cNvSpPr/>
          <p:nvPr/>
        </p:nvSpPr>
        <p:spPr>
          <a:xfrm>
            <a:off x="320040" y="1828800"/>
            <a:ext cx="7772400" cy="640080"/>
          </a:xfrm>
          <a:prstGeom prst="rect">
            <a:avLst/>
          </a:prstGeom>
          <a:noFill/>
          <a:ln/>
        </p:spPr>
        <p:txBody>
          <a:bodyPr wrap="square" lIns="0" tIns="0" rIns="0" bIns="0" rtlCol="0" anchor="ctr"/>
          <a:lstStyle/>
          <a:p>
            <a:pPr marL="0" indent="0">
              <a:buNone/>
            </a:pPr>
            <a:r>
              <a:rPr lang="en-US" sz="2200" dirty="0">
                <a:solidFill>
                  <a:srgbClr val="E3F2FD"/>
                </a:solidFill>
                <a:latin typeface="Calibri" pitchFamily="34" charset="0"/>
                <a:ea typeface="Calibri" pitchFamily="34" charset="-122"/>
                <a:cs typeface="Calibri" pitchFamily="34" charset="-120"/>
              </a:rPr>
              <a:t>Gestion des Bornes de Recharge Électrique</a:t>
            </a:r>
            <a:endParaRPr lang="en-US" sz="2200" dirty="0"/>
          </a:p>
        </p:txBody>
      </p:sp>
      <p:sp>
        <p:nvSpPr>
          <p:cNvPr id="6" name="Shape 3"/>
          <p:cNvSpPr/>
          <p:nvPr/>
        </p:nvSpPr>
        <p:spPr>
          <a:xfrm>
            <a:off x="320040" y="2606040"/>
            <a:ext cx="1234440" cy="347472"/>
          </a:xfrm>
          <a:prstGeom prst="roundRect">
            <a:avLst>
              <a:gd name="adj" fmla="val 15789"/>
            </a:avLst>
          </a:prstGeom>
          <a:solidFill>
            <a:srgbClr val="1565C0">
              <a:alpha val="70000"/>
            </a:srgbClr>
          </a:solidFill>
          <a:ln w="10160">
            <a:solidFill>
              <a:srgbClr val="1E88E5"/>
            </a:solidFill>
            <a:prstDash val="solid"/>
          </a:ln>
        </p:spPr>
        <p:txBody>
          <a:bodyPr/>
          <a:lstStyle/>
          <a:p>
            <a:endParaRPr lang="fr-FR"/>
          </a:p>
        </p:txBody>
      </p:sp>
      <p:sp>
        <p:nvSpPr>
          <p:cNvPr id="7" name="Text 4"/>
          <p:cNvSpPr/>
          <p:nvPr/>
        </p:nvSpPr>
        <p:spPr>
          <a:xfrm>
            <a:off x="320040" y="2606040"/>
            <a:ext cx="123444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Django 4.2</a:t>
            </a:r>
            <a:endParaRPr lang="en-US" sz="1000" dirty="0"/>
          </a:p>
        </p:txBody>
      </p:sp>
      <p:sp>
        <p:nvSpPr>
          <p:cNvPr id="8" name="Shape 5"/>
          <p:cNvSpPr/>
          <p:nvPr/>
        </p:nvSpPr>
        <p:spPr>
          <a:xfrm>
            <a:off x="1691640" y="2606040"/>
            <a:ext cx="1234440" cy="347472"/>
          </a:xfrm>
          <a:prstGeom prst="roundRect">
            <a:avLst>
              <a:gd name="adj" fmla="val 15789"/>
            </a:avLst>
          </a:prstGeom>
          <a:solidFill>
            <a:srgbClr val="1565C0">
              <a:alpha val="70000"/>
            </a:srgbClr>
          </a:solidFill>
          <a:ln w="10160">
            <a:solidFill>
              <a:srgbClr val="1E88E5"/>
            </a:solidFill>
            <a:prstDash val="solid"/>
          </a:ln>
        </p:spPr>
        <p:txBody>
          <a:bodyPr/>
          <a:lstStyle/>
          <a:p>
            <a:endParaRPr lang="fr-FR"/>
          </a:p>
        </p:txBody>
      </p:sp>
      <p:sp>
        <p:nvSpPr>
          <p:cNvPr id="9" name="Text 6"/>
          <p:cNvSpPr/>
          <p:nvPr/>
        </p:nvSpPr>
        <p:spPr>
          <a:xfrm>
            <a:off x="1691640" y="2606040"/>
            <a:ext cx="123444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Bootstrap 5</a:t>
            </a:r>
            <a:endParaRPr lang="en-US" sz="1000" dirty="0"/>
          </a:p>
        </p:txBody>
      </p:sp>
      <p:sp>
        <p:nvSpPr>
          <p:cNvPr id="10" name="Shape 7"/>
          <p:cNvSpPr/>
          <p:nvPr/>
        </p:nvSpPr>
        <p:spPr>
          <a:xfrm>
            <a:off x="3063240" y="2606040"/>
            <a:ext cx="1234440" cy="347472"/>
          </a:xfrm>
          <a:prstGeom prst="roundRect">
            <a:avLst>
              <a:gd name="adj" fmla="val 15789"/>
            </a:avLst>
          </a:prstGeom>
          <a:solidFill>
            <a:srgbClr val="1565C0">
              <a:alpha val="70000"/>
            </a:srgbClr>
          </a:solidFill>
          <a:ln w="10160">
            <a:solidFill>
              <a:srgbClr val="1E88E5"/>
            </a:solidFill>
            <a:prstDash val="solid"/>
          </a:ln>
        </p:spPr>
        <p:txBody>
          <a:bodyPr/>
          <a:lstStyle/>
          <a:p>
            <a:endParaRPr lang="fr-FR"/>
          </a:p>
        </p:txBody>
      </p:sp>
      <p:sp>
        <p:nvSpPr>
          <p:cNvPr id="11" name="Text 8"/>
          <p:cNvSpPr/>
          <p:nvPr/>
        </p:nvSpPr>
        <p:spPr>
          <a:xfrm>
            <a:off x="3063240" y="2606040"/>
            <a:ext cx="123444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SQLite3</a:t>
            </a:r>
            <a:endParaRPr lang="en-US" sz="1000" dirty="0"/>
          </a:p>
        </p:txBody>
      </p:sp>
      <p:sp>
        <p:nvSpPr>
          <p:cNvPr id="12" name="Shape 9"/>
          <p:cNvSpPr/>
          <p:nvPr/>
        </p:nvSpPr>
        <p:spPr>
          <a:xfrm>
            <a:off x="4434840" y="2587752"/>
            <a:ext cx="1234440" cy="347472"/>
          </a:xfrm>
          <a:prstGeom prst="roundRect">
            <a:avLst>
              <a:gd name="adj" fmla="val 15789"/>
            </a:avLst>
          </a:prstGeom>
          <a:solidFill>
            <a:srgbClr val="1565C0">
              <a:alpha val="70000"/>
            </a:srgbClr>
          </a:solidFill>
          <a:ln w="10160">
            <a:solidFill>
              <a:srgbClr val="1E88E5"/>
            </a:solidFill>
            <a:prstDash val="solid"/>
          </a:ln>
        </p:spPr>
        <p:txBody>
          <a:bodyPr/>
          <a:lstStyle/>
          <a:p>
            <a:endParaRPr lang="fr-FR"/>
          </a:p>
        </p:txBody>
      </p:sp>
      <p:sp>
        <p:nvSpPr>
          <p:cNvPr id="13" name="Text 10"/>
          <p:cNvSpPr/>
          <p:nvPr/>
        </p:nvSpPr>
        <p:spPr>
          <a:xfrm>
            <a:off x="4457700" y="2587752"/>
            <a:ext cx="123444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Python 3.8+</a:t>
            </a:r>
            <a:endParaRPr lang="en-US" sz="1000" dirty="0"/>
          </a:p>
        </p:txBody>
      </p:sp>
      <p:sp>
        <p:nvSpPr>
          <p:cNvPr id="14" name="Shape 11"/>
          <p:cNvSpPr/>
          <p:nvPr/>
        </p:nvSpPr>
        <p:spPr>
          <a:xfrm>
            <a:off x="0" y="4389120"/>
            <a:ext cx="9144000" cy="754380"/>
          </a:xfrm>
          <a:prstGeom prst="rect">
            <a:avLst/>
          </a:prstGeom>
          <a:solidFill>
            <a:srgbClr val="1565C0">
              <a:alpha val="40000"/>
            </a:srgbClr>
          </a:solidFill>
          <a:ln w="12700">
            <a:solidFill>
              <a:srgbClr val="1565C0"/>
            </a:solidFill>
            <a:prstDash val="solid"/>
          </a:ln>
        </p:spPr>
        <p:txBody>
          <a:bodyPr/>
          <a:lstStyle/>
          <a:p>
            <a:endParaRPr lang="fr-FR"/>
          </a:p>
        </p:txBody>
      </p:sp>
      <p:sp>
        <p:nvSpPr>
          <p:cNvPr id="15" name="Text 12"/>
          <p:cNvSpPr/>
          <p:nvPr/>
        </p:nvSpPr>
        <p:spPr>
          <a:xfrm>
            <a:off x="320040" y="4407408"/>
            <a:ext cx="8503920" cy="713232"/>
          </a:xfrm>
          <a:prstGeom prst="rect">
            <a:avLst/>
          </a:prstGeom>
          <a:noFill/>
          <a:ln/>
        </p:spPr>
        <p:txBody>
          <a:bodyPr wrap="square" lIns="0" tIns="0" rIns="0" bIns="0" rtlCol="0" anchor="ctr"/>
          <a:lstStyle/>
          <a:p>
            <a:pPr marL="0" indent="0">
              <a:buNone/>
            </a:pPr>
            <a:r>
              <a:rPr lang="en-US" sz="1200" dirty="0">
                <a:solidFill>
                  <a:srgbClr val="E3F2FD"/>
                </a:solidFill>
                <a:latin typeface="Calibri" pitchFamily="34" charset="0"/>
                <a:ea typeface="Calibri" pitchFamily="34" charset="-122"/>
                <a:cs typeface="Calibri" pitchFamily="34" charset="-120"/>
              </a:rPr>
              <a:t>Version 1.0  |  Mai 2026  |  Rapport Technique</a:t>
            </a:r>
            <a:endParaRPr lang="en-US" sz="1200" dirty="0"/>
          </a:p>
        </p:txBody>
      </p:sp>
      <p:sp>
        <p:nvSpPr>
          <p:cNvPr id="16" name="ZoneTexte 15">
            <a:extLst>
              <a:ext uri="{FF2B5EF4-FFF2-40B4-BE49-F238E27FC236}">
                <a16:creationId xmlns:a16="http://schemas.microsoft.com/office/drawing/2014/main" id="{9E301E45-35E4-4B02-29BF-3661A8A68A5B}"/>
              </a:ext>
            </a:extLst>
          </p:cNvPr>
          <p:cNvSpPr txBox="1"/>
          <p:nvPr/>
        </p:nvSpPr>
        <p:spPr>
          <a:xfrm>
            <a:off x="6139543" y="3704025"/>
            <a:ext cx="3546566" cy="523220"/>
          </a:xfrm>
          <a:prstGeom prst="rect">
            <a:avLst/>
          </a:prstGeom>
          <a:noFill/>
        </p:spPr>
        <p:txBody>
          <a:bodyPr wrap="square" rtlCol="0">
            <a:spAutoFit/>
          </a:bodyPr>
          <a:lstStyle/>
          <a:p>
            <a:r>
              <a:rPr lang="fr-FR" sz="1400" dirty="0">
                <a:solidFill>
                  <a:schemeClr val="bg1"/>
                </a:solidFill>
              </a:rPr>
              <a:t>Réalisé par :</a:t>
            </a:r>
          </a:p>
          <a:p>
            <a:r>
              <a:rPr lang="fr-FR" sz="1400" dirty="0">
                <a:solidFill>
                  <a:schemeClr val="bg1"/>
                </a:solidFill>
              </a:rPr>
              <a:t>	Tahfi Mohamed amine</a:t>
            </a:r>
          </a:p>
        </p:txBody>
      </p:sp>
      <p:pic>
        <p:nvPicPr>
          <p:cNvPr id="18" name="Image 17" descr="Une image contenant texte, Police, Graphique, graphisme&#10;&#10;Le contenu généré par l’IA peut être incorrect.">
            <a:extLst>
              <a:ext uri="{FF2B5EF4-FFF2-40B4-BE49-F238E27FC236}">
                <a16:creationId xmlns:a16="http://schemas.microsoft.com/office/drawing/2014/main" id="{37537541-F73E-4380-9819-440C9DC288F1}"/>
              </a:ext>
            </a:extLst>
          </p:cNvPr>
          <p:cNvPicPr>
            <a:picLocks noChangeAspect="1"/>
          </p:cNvPicPr>
          <p:nvPr/>
        </p:nvPicPr>
        <p:blipFill>
          <a:blip r:embed="rId4"/>
          <a:stretch>
            <a:fillRect/>
          </a:stretch>
        </p:blipFill>
        <p:spPr>
          <a:xfrm>
            <a:off x="6488606" y="85614"/>
            <a:ext cx="2586814" cy="6413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Plan de la Présentation</a:t>
            </a:r>
            <a:endParaRPr lang="en-US" sz="2800" dirty="0"/>
          </a:p>
        </p:txBody>
      </p:sp>
      <p:sp>
        <p:nvSpPr>
          <p:cNvPr id="4" name="Shape 2"/>
          <p:cNvSpPr/>
          <p:nvPr/>
        </p:nvSpPr>
        <p:spPr>
          <a:xfrm>
            <a:off x="274320" y="1143000"/>
            <a:ext cx="4206240" cy="10058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274320" y="1143000"/>
            <a:ext cx="640080" cy="1005840"/>
          </a:xfrm>
          <a:prstGeom prst="rect">
            <a:avLst/>
          </a:prstGeom>
          <a:solidFill>
            <a:srgbClr val="1565C0"/>
          </a:solidFill>
          <a:ln w="12700">
            <a:solidFill>
              <a:srgbClr val="1565C0"/>
            </a:solidFill>
            <a:prstDash val="solid"/>
          </a:ln>
        </p:spPr>
        <p:txBody>
          <a:bodyPr/>
          <a:lstStyle/>
          <a:p>
            <a:endParaRPr lang="fr-FR"/>
          </a:p>
        </p:txBody>
      </p:sp>
      <p:sp>
        <p:nvSpPr>
          <p:cNvPr id="6" name="Text 4"/>
          <p:cNvSpPr/>
          <p:nvPr/>
        </p:nvSpPr>
        <p:spPr>
          <a:xfrm>
            <a:off x="274320" y="1143000"/>
            <a:ext cx="640080" cy="10058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005840" y="1234440"/>
            <a:ext cx="3383280" cy="347472"/>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Introduction</a:t>
            </a:r>
            <a:endParaRPr lang="en-US" sz="1400" dirty="0"/>
          </a:p>
        </p:txBody>
      </p:sp>
      <p:sp>
        <p:nvSpPr>
          <p:cNvPr id="8" name="Text 6"/>
          <p:cNvSpPr/>
          <p:nvPr/>
        </p:nvSpPr>
        <p:spPr>
          <a:xfrm>
            <a:off x="1005840" y="1618488"/>
            <a:ext cx="3383280" cy="411480"/>
          </a:xfrm>
          <a:prstGeom prst="rect">
            <a:avLst/>
          </a:prstGeom>
          <a:noFill/>
          <a:ln/>
        </p:spPr>
        <p:txBody>
          <a:bodyPr wrap="square" lIns="0" tIns="0" rIns="0" bIns="0" rtlCol="0" anchor="ctr"/>
          <a:lstStyle/>
          <a:p>
            <a:pPr marL="0" indent="0">
              <a:buNone/>
            </a:pPr>
            <a:r>
              <a:rPr lang="en-US" sz="1050" dirty="0">
                <a:solidFill>
                  <a:srgbClr val="90A4AE"/>
                </a:solidFill>
                <a:latin typeface="Calibri" pitchFamily="34" charset="0"/>
                <a:ea typeface="Calibri" pitchFamily="34" charset="-122"/>
                <a:cs typeface="Calibri" pitchFamily="34" charset="-120"/>
              </a:rPr>
              <a:t>Contexte et objectifs du projet</a:t>
            </a:r>
            <a:endParaRPr lang="en-US" sz="1050" dirty="0"/>
          </a:p>
        </p:txBody>
      </p:sp>
      <p:sp>
        <p:nvSpPr>
          <p:cNvPr id="9" name="Shape 7"/>
          <p:cNvSpPr/>
          <p:nvPr/>
        </p:nvSpPr>
        <p:spPr>
          <a:xfrm>
            <a:off x="274320" y="2331720"/>
            <a:ext cx="4206240" cy="10058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0" name="Shape 8"/>
          <p:cNvSpPr/>
          <p:nvPr/>
        </p:nvSpPr>
        <p:spPr>
          <a:xfrm>
            <a:off x="274320" y="2331720"/>
            <a:ext cx="640080" cy="1005840"/>
          </a:xfrm>
          <a:prstGeom prst="rect">
            <a:avLst/>
          </a:prstGeom>
          <a:solidFill>
            <a:srgbClr val="1565C0"/>
          </a:solidFill>
          <a:ln w="12700">
            <a:solidFill>
              <a:srgbClr val="1565C0"/>
            </a:solidFill>
            <a:prstDash val="solid"/>
          </a:ln>
        </p:spPr>
        <p:txBody>
          <a:bodyPr/>
          <a:lstStyle/>
          <a:p>
            <a:endParaRPr lang="fr-FR"/>
          </a:p>
        </p:txBody>
      </p:sp>
      <p:sp>
        <p:nvSpPr>
          <p:cNvPr id="11" name="Text 9"/>
          <p:cNvSpPr/>
          <p:nvPr/>
        </p:nvSpPr>
        <p:spPr>
          <a:xfrm>
            <a:off x="274320" y="2331720"/>
            <a:ext cx="640080" cy="10058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1005840" y="2423160"/>
            <a:ext cx="3383280" cy="347472"/>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Architecture</a:t>
            </a:r>
            <a:endParaRPr lang="en-US" sz="1400" dirty="0"/>
          </a:p>
        </p:txBody>
      </p:sp>
      <p:sp>
        <p:nvSpPr>
          <p:cNvPr id="13" name="Text 11"/>
          <p:cNvSpPr/>
          <p:nvPr/>
        </p:nvSpPr>
        <p:spPr>
          <a:xfrm>
            <a:off x="1005840" y="2807208"/>
            <a:ext cx="3383280" cy="411480"/>
          </a:xfrm>
          <a:prstGeom prst="rect">
            <a:avLst/>
          </a:prstGeom>
          <a:noFill/>
          <a:ln/>
        </p:spPr>
        <p:txBody>
          <a:bodyPr wrap="square" lIns="0" tIns="0" rIns="0" bIns="0" rtlCol="0" anchor="ctr"/>
          <a:lstStyle/>
          <a:p>
            <a:pPr marL="0" indent="0">
              <a:buNone/>
            </a:pPr>
            <a:r>
              <a:rPr lang="en-US" sz="1050" dirty="0">
                <a:solidFill>
                  <a:srgbClr val="90A4AE"/>
                </a:solidFill>
                <a:latin typeface="Calibri" pitchFamily="34" charset="0"/>
                <a:ea typeface="Calibri" pitchFamily="34" charset="-122"/>
                <a:cs typeface="Calibri" pitchFamily="34" charset="-120"/>
              </a:rPr>
              <a:t>Structure technique et organisation du code</a:t>
            </a:r>
            <a:endParaRPr lang="en-US" sz="1050" dirty="0"/>
          </a:p>
        </p:txBody>
      </p:sp>
      <p:sp>
        <p:nvSpPr>
          <p:cNvPr id="14" name="Shape 12"/>
          <p:cNvSpPr/>
          <p:nvPr/>
        </p:nvSpPr>
        <p:spPr>
          <a:xfrm>
            <a:off x="274320" y="3520440"/>
            <a:ext cx="4206240" cy="10058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5" name="Shape 13"/>
          <p:cNvSpPr/>
          <p:nvPr/>
        </p:nvSpPr>
        <p:spPr>
          <a:xfrm>
            <a:off x="274320" y="3520440"/>
            <a:ext cx="640080" cy="1005840"/>
          </a:xfrm>
          <a:prstGeom prst="rect">
            <a:avLst/>
          </a:prstGeom>
          <a:solidFill>
            <a:srgbClr val="1565C0"/>
          </a:solidFill>
          <a:ln w="12700">
            <a:solidFill>
              <a:srgbClr val="1565C0"/>
            </a:solidFill>
            <a:prstDash val="solid"/>
          </a:ln>
        </p:spPr>
        <p:txBody>
          <a:bodyPr/>
          <a:lstStyle/>
          <a:p>
            <a:endParaRPr lang="fr-FR"/>
          </a:p>
        </p:txBody>
      </p:sp>
      <p:sp>
        <p:nvSpPr>
          <p:cNvPr id="16" name="Text 14"/>
          <p:cNvSpPr/>
          <p:nvPr/>
        </p:nvSpPr>
        <p:spPr>
          <a:xfrm>
            <a:off x="274320" y="3520440"/>
            <a:ext cx="640080" cy="10058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1005840" y="3611880"/>
            <a:ext cx="3383280" cy="347472"/>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Modèle de Données</a:t>
            </a:r>
            <a:endParaRPr lang="en-US" sz="1400" dirty="0"/>
          </a:p>
        </p:txBody>
      </p:sp>
      <p:sp>
        <p:nvSpPr>
          <p:cNvPr id="18" name="Text 16"/>
          <p:cNvSpPr/>
          <p:nvPr/>
        </p:nvSpPr>
        <p:spPr>
          <a:xfrm>
            <a:off x="1005840" y="3995928"/>
            <a:ext cx="3383280" cy="411480"/>
          </a:xfrm>
          <a:prstGeom prst="rect">
            <a:avLst/>
          </a:prstGeom>
          <a:noFill/>
          <a:ln/>
        </p:spPr>
        <p:txBody>
          <a:bodyPr wrap="square" lIns="0" tIns="0" rIns="0" bIns="0" rtlCol="0" anchor="ctr"/>
          <a:lstStyle/>
          <a:p>
            <a:pPr marL="0" indent="0">
              <a:buNone/>
            </a:pPr>
            <a:r>
              <a:rPr lang="en-US" sz="1050" dirty="0">
                <a:solidFill>
                  <a:srgbClr val="90A4AE"/>
                </a:solidFill>
                <a:latin typeface="Calibri" pitchFamily="34" charset="0"/>
                <a:ea typeface="Calibri" pitchFamily="34" charset="-122"/>
                <a:cs typeface="Calibri" pitchFamily="34" charset="-120"/>
              </a:rPr>
              <a:t>Entités, relations et contraintes</a:t>
            </a:r>
            <a:endParaRPr lang="en-US" sz="1050" dirty="0"/>
          </a:p>
        </p:txBody>
      </p:sp>
      <p:sp>
        <p:nvSpPr>
          <p:cNvPr id="19" name="Shape 17"/>
          <p:cNvSpPr/>
          <p:nvPr/>
        </p:nvSpPr>
        <p:spPr>
          <a:xfrm>
            <a:off x="4754880" y="1143000"/>
            <a:ext cx="4206240" cy="10058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0" name="Shape 18"/>
          <p:cNvSpPr/>
          <p:nvPr/>
        </p:nvSpPr>
        <p:spPr>
          <a:xfrm>
            <a:off x="4754880" y="1143000"/>
            <a:ext cx="640080" cy="1005840"/>
          </a:xfrm>
          <a:prstGeom prst="rect">
            <a:avLst/>
          </a:prstGeom>
          <a:solidFill>
            <a:srgbClr val="1565C0"/>
          </a:solidFill>
          <a:ln w="12700">
            <a:solidFill>
              <a:srgbClr val="1565C0"/>
            </a:solidFill>
            <a:prstDash val="solid"/>
          </a:ln>
        </p:spPr>
        <p:txBody>
          <a:bodyPr/>
          <a:lstStyle/>
          <a:p>
            <a:endParaRPr lang="fr-FR"/>
          </a:p>
        </p:txBody>
      </p:sp>
      <p:sp>
        <p:nvSpPr>
          <p:cNvPr id="21" name="Text 19"/>
          <p:cNvSpPr/>
          <p:nvPr/>
        </p:nvSpPr>
        <p:spPr>
          <a:xfrm>
            <a:off x="4754880" y="1143000"/>
            <a:ext cx="640080" cy="10058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5486400" y="1234440"/>
            <a:ext cx="3383280" cy="347472"/>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Démonstration</a:t>
            </a:r>
            <a:endParaRPr lang="en-US" sz="1400" dirty="0"/>
          </a:p>
        </p:txBody>
      </p:sp>
      <p:sp>
        <p:nvSpPr>
          <p:cNvPr id="23" name="Text 21"/>
          <p:cNvSpPr/>
          <p:nvPr/>
        </p:nvSpPr>
        <p:spPr>
          <a:xfrm>
            <a:off x="5486400" y="1618488"/>
            <a:ext cx="3383280" cy="411480"/>
          </a:xfrm>
          <a:prstGeom prst="rect">
            <a:avLst/>
          </a:prstGeom>
          <a:noFill/>
          <a:ln/>
        </p:spPr>
        <p:txBody>
          <a:bodyPr wrap="square" lIns="0" tIns="0" rIns="0" bIns="0" rtlCol="0" anchor="ctr"/>
          <a:lstStyle/>
          <a:p>
            <a:pPr marL="0" indent="0">
              <a:buNone/>
            </a:pPr>
            <a:r>
              <a:rPr lang="en-US" sz="1050" dirty="0">
                <a:solidFill>
                  <a:srgbClr val="90A4AE"/>
                </a:solidFill>
                <a:latin typeface="Calibri" pitchFamily="34" charset="0"/>
                <a:ea typeface="Calibri" pitchFamily="34" charset="-122"/>
                <a:cs typeface="Calibri" pitchFamily="34" charset="-120"/>
              </a:rPr>
              <a:t>Présentation des écrans de l'application</a:t>
            </a:r>
            <a:endParaRPr lang="en-US" sz="1050" dirty="0"/>
          </a:p>
        </p:txBody>
      </p:sp>
      <p:sp>
        <p:nvSpPr>
          <p:cNvPr id="24" name="Shape 22"/>
          <p:cNvSpPr/>
          <p:nvPr/>
        </p:nvSpPr>
        <p:spPr>
          <a:xfrm>
            <a:off x="4754880" y="2331720"/>
            <a:ext cx="4206240" cy="10058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5" name="Shape 23"/>
          <p:cNvSpPr/>
          <p:nvPr/>
        </p:nvSpPr>
        <p:spPr>
          <a:xfrm>
            <a:off x="4754880" y="2331720"/>
            <a:ext cx="640080" cy="1005840"/>
          </a:xfrm>
          <a:prstGeom prst="rect">
            <a:avLst/>
          </a:prstGeom>
          <a:solidFill>
            <a:srgbClr val="1565C0"/>
          </a:solidFill>
          <a:ln w="12700">
            <a:solidFill>
              <a:srgbClr val="1565C0"/>
            </a:solidFill>
            <a:prstDash val="solid"/>
          </a:ln>
        </p:spPr>
        <p:txBody>
          <a:bodyPr/>
          <a:lstStyle/>
          <a:p>
            <a:endParaRPr lang="fr-FR"/>
          </a:p>
        </p:txBody>
      </p:sp>
      <p:sp>
        <p:nvSpPr>
          <p:cNvPr id="26" name="Text 24"/>
          <p:cNvSpPr/>
          <p:nvPr/>
        </p:nvSpPr>
        <p:spPr>
          <a:xfrm>
            <a:off x="4754880" y="2331720"/>
            <a:ext cx="640080" cy="10058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05</a:t>
            </a:r>
            <a:endParaRPr lang="en-US" sz="2200" dirty="0"/>
          </a:p>
        </p:txBody>
      </p:sp>
      <p:sp>
        <p:nvSpPr>
          <p:cNvPr id="27" name="Text 25"/>
          <p:cNvSpPr/>
          <p:nvPr/>
        </p:nvSpPr>
        <p:spPr>
          <a:xfrm>
            <a:off x="5486400" y="2423160"/>
            <a:ext cx="3383280" cy="347472"/>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Points Forts</a:t>
            </a:r>
            <a:endParaRPr lang="en-US" sz="1400" dirty="0"/>
          </a:p>
        </p:txBody>
      </p:sp>
      <p:sp>
        <p:nvSpPr>
          <p:cNvPr id="28" name="Text 26"/>
          <p:cNvSpPr/>
          <p:nvPr/>
        </p:nvSpPr>
        <p:spPr>
          <a:xfrm>
            <a:off x="5486400" y="2807208"/>
            <a:ext cx="3383280" cy="411480"/>
          </a:xfrm>
          <a:prstGeom prst="rect">
            <a:avLst/>
          </a:prstGeom>
          <a:noFill/>
          <a:ln/>
        </p:spPr>
        <p:txBody>
          <a:bodyPr wrap="square" lIns="0" tIns="0" rIns="0" bIns="0" rtlCol="0" anchor="ctr"/>
          <a:lstStyle/>
          <a:p>
            <a:pPr marL="0" indent="0">
              <a:buNone/>
            </a:pPr>
            <a:r>
              <a:rPr lang="en-US" sz="1050" dirty="0">
                <a:solidFill>
                  <a:srgbClr val="90A4AE"/>
                </a:solidFill>
                <a:latin typeface="Calibri" pitchFamily="34" charset="0"/>
                <a:ea typeface="Calibri" pitchFamily="34" charset="-122"/>
                <a:cs typeface="Calibri" pitchFamily="34" charset="-120"/>
              </a:rPr>
              <a:t>Choix techniques et bonnes pratiques</a:t>
            </a:r>
            <a:endParaRPr lang="en-US" sz="1050" dirty="0"/>
          </a:p>
        </p:txBody>
      </p:sp>
      <p:sp>
        <p:nvSpPr>
          <p:cNvPr id="29" name="Shape 27"/>
          <p:cNvSpPr/>
          <p:nvPr/>
        </p:nvSpPr>
        <p:spPr>
          <a:xfrm>
            <a:off x="4754880" y="3520440"/>
            <a:ext cx="4206240" cy="10058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30" name="Shape 28"/>
          <p:cNvSpPr/>
          <p:nvPr/>
        </p:nvSpPr>
        <p:spPr>
          <a:xfrm>
            <a:off x="4754880" y="3520440"/>
            <a:ext cx="640080" cy="1005840"/>
          </a:xfrm>
          <a:prstGeom prst="rect">
            <a:avLst/>
          </a:prstGeom>
          <a:solidFill>
            <a:srgbClr val="1565C0"/>
          </a:solidFill>
          <a:ln w="12700">
            <a:solidFill>
              <a:srgbClr val="1565C0"/>
            </a:solidFill>
            <a:prstDash val="solid"/>
          </a:ln>
        </p:spPr>
        <p:txBody>
          <a:bodyPr/>
          <a:lstStyle/>
          <a:p>
            <a:endParaRPr lang="fr-FR"/>
          </a:p>
        </p:txBody>
      </p:sp>
      <p:sp>
        <p:nvSpPr>
          <p:cNvPr id="31" name="Text 29"/>
          <p:cNvSpPr/>
          <p:nvPr/>
        </p:nvSpPr>
        <p:spPr>
          <a:xfrm>
            <a:off x="4754880" y="3520440"/>
            <a:ext cx="640080" cy="10058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06</a:t>
            </a:r>
            <a:endParaRPr lang="en-US" sz="2200" dirty="0"/>
          </a:p>
        </p:txBody>
      </p:sp>
      <p:sp>
        <p:nvSpPr>
          <p:cNvPr id="32" name="Text 30"/>
          <p:cNvSpPr/>
          <p:nvPr/>
        </p:nvSpPr>
        <p:spPr>
          <a:xfrm>
            <a:off x="5486400" y="3611880"/>
            <a:ext cx="3383280" cy="347472"/>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Conclusion &amp; Perspectives</a:t>
            </a:r>
            <a:endParaRPr lang="en-US" sz="1400" dirty="0"/>
          </a:p>
        </p:txBody>
      </p:sp>
      <p:sp>
        <p:nvSpPr>
          <p:cNvPr id="33" name="Text 31"/>
          <p:cNvSpPr/>
          <p:nvPr/>
        </p:nvSpPr>
        <p:spPr>
          <a:xfrm>
            <a:off x="5486400" y="3995928"/>
            <a:ext cx="3383280" cy="411480"/>
          </a:xfrm>
          <a:prstGeom prst="rect">
            <a:avLst/>
          </a:prstGeom>
          <a:noFill/>
          <a:ln/>
        </p:spPr>
        <p:txBody>
          <a:bodyPr wrap="square" lIns="0" tIns="0" rIns="0" bIns="0" rtlCol="0" anchor="ctr"/>
          <a:lstStyle/>
          <a:p>
            <a:pPr marL="0" indent="0">
              <a:buNone/>
            </a:pPr>
            <a:r>
              <a:rPr lang="en-US" sz="1050" dirty="0">
                <a:solidFill>
                  <a:srgbClr val="90A4AE"/>
                </a:solidFill>
                <a:latin typeface="Calibri" pitchFamily="34" charset="0"/>
                <a:ea typeface="Calibri" pitchFamily="34" charset="-122"/>
                <a:cs typeface="Calibri" pitchFamily="34" charset="-120"/>
              </a:rPr>
              <a:t>Bilan et évolutions envisagées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943600" y="-182880"/>
            <a:ext cx="3200400" cy="4572000"/>
          </a:xfrm>
          <a:prstGeom prst="rect">
            <a:avLst/>
          </a:prstGeom>
          <a:noFill/>
          <a:ln/>
        </p:spPr>
        <p:txBody>
          <a:bodyPr wrap="square" rtlCol="0" anchor="ctr"/>
          <a:lstStyle/>
          <a:p>
            <a:pPr marL="0" indent="0" algn="r">
              <a:buNone/>
            </a:pPr>
            <a:r>
              <a:rPr lang="en-US" sz="20000" b="1" dirty="0">
                <a:solidFill>
                  <a:srgbClr val="FFFFFF">
                    <a:alpha val="6000"/>
                  </a:srgbClr>
                </a:solidFill>
              </a:rPr>
              <a:t>01</a:t>
            </a:r>
            <a:endParaRPr lang="en-US" sz="20000" dirty="0"/>
          </a:p>
        </p:txBody>
      </p:sp>
      <p:sp>
        <p:nvSpPr>
          <p:cNvPr id="3" name="Shape 1"/>
          <p:cNvSpPr/>
          <p:nvPr/>
        </p:nvSpPr>
        <p:spPr>
          <a:xfrm>
            <a:off x="502920" y="1737360"/>
            <a:ext cx="73152" cy="1645920"/>
          </a:xfrm>
          <a:prstGeom prst="rect">
            <a:avLst/>
          </a:prstGeom>
          <a:solidFill>
            <a:srgbClr val="1E88E5"/>
          </a:solidFill>
          <a:ln w="12700">
            <a:solidFill>
              <a:srgbClr val="1E88E5"/>
            </a:solidFill>
            <a:prstDash val="solid"/>
          </a:ln>
        </p:spPr>
        <p:txBody>
          <a:bodyPr/>
          <a:lstStyle/>
          <a:p>
            <a:endParaRPr lang="fr-FR"/>
          </a:p>
        </p:txBody>
      </p:sp>
      <p:sp>
        <p:nvSpPr>
          <p:cNvPr id="4" name="Text 2"/>
          <p:cNvSpPr/>
          <p:nvPr/>
        </p:nvSpPr>
        <p:spPr>
          <a:xfrm>
            <a:off x="685800" y="173736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Introduction</a:t>
            </a:r>
            <a:endParaRPr lang="en-US" sz="4000" dirty="0"/>
          </a:p>
        </p:txBody>
      </p:sp>
      <p:sp>
        <p:nvSpPr>
          <p:cNvPr id="5" name="Text 3"/>
          <p:cNvSpPr/>
          <p:nvPr/>
        </p:nvSpPr>
        <p:spPr>
          <a:xfrm>
            <a:off x="685800" y="2697480"/>
            <a:ext cx="7772400" cy="731520"/>
          </a:xfrm>
          <a:prstGeom prst="rect">
            <a:avLst/>
          </a:prstGeom>
          <a:noFill/>
          <a:ln/>
        </p:spPr>
        <p:txBody>
          <a:bodyPr wrap="square" lIns="0" tIns="0" rIns="0" bIns="0" rtlCol="0" anchor="ctr"/>
          <a:lstStyle/>
          <a:p>
            <a:pPr marL="0" indent="0">
              <a:buNone/>
            </a:pPr>
            <a:r>
              <a:rPr lang="en-US" sz="1800" dirty="0">
                <a:solidFill>
                  <a:srgbClr val="90A4AE"/>
                </a:solidFill>
                <a:latin typeface="Calibri" pitchFamily="34" charset="0"/>
                <a:ea typeface="Calibri" pitchFamily="34" charset="-122"/>
                <a:cs typeface="Calibri" pitchFamily="34" charset="-120"/>
              </a:rPr>
              <a:t>Contexte, objectifs et profils utilisateurs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fr-FR"/>
          </a:p>
        </p:txBody>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Présentation du Projet</a:t>
            </a:r>
            <a:endParaRPr lang="en-US" sz="2600" dirty="0"/>
          </a:p>
        </p:txBody>
      </p:sp>
      <p:sp>
        <p:nvSpPr>
          <p:cNvPr id="4" name="Shape 2"/>
          <p:cNvSpPr/>
          <p:nvPr/>
        </p:nvSpPr>
        <p:spPr>
          <a:xfrm>
            <a:off x="274320" y="1051560"/>
            <a:ext cx="5120640" cy="3520440"/>
          </a:xfrm>
          <a:prstGeom prst="rect">
            <a:avLst/>
          </a:prstGeom>
          <a:solidFill>
            <a:srgbClr val="E3F2FD"/>
          </a:solidFill>
          <a:ln w="6350">
            <a:solidFill>
              <a:srgbClr val="E0E6EF"/>
            </a:solidFill>
            <a:prstDash val="solid"/>
          </a:ln>
        </p:spPr>
        <p:txBody>
          <a:bodyPr/>
          <a:lstStyle/>
          <a:p>
            <a:endParaRPr lang="fr-FR"/>
          </a:p>
        </p:txBody>
      </p:sp>
      <p:sp>
        <p:nvSpPr>
          <p:cNvPr id="5" name="Text 3"/>
          <p:cNvSpPr/>
          <p:nvPr/>
        </p:nvSpPr>
        <p:spPr>
          <a:xfrm>
            <a:off x="457200" y="1143000"/>
            <a:ext cx="4754880" cy="45720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ElectroCharge</a:t>
            </a:r>
            <a:endParaRPr lang="en-US" sz="2000" dirty="0"/>
          </a:p>
        </p:txBody>
      </p:sp>
      <p:sp>
        <p:nvSpPr>
          <p:cNvPr id="6" name="Text 4"/>
          <p:cNvSpPr/>
          <p:nvPr/>
        </p:nvSpPr>
        <p:spPr>
          <a:xfrm>
            <a:off x="457200" y="1645920"/>
            <a:ext cx="4754880" cy="2286000"/>
          </a:xfrm>
          <a:prstGeom prst="rect">
            <a:avLst/>
          </a:prstGeom>
          <a:noFill/>
          <a:ln/>
        </p:spPr>
        <p:txBody>
          <a:bodyPr wrap="square" lIns="0" tIns="0" rIns="0" bIns="0" rtlCol="0" anchor="ctr"/>
          <a:lstStyle/>
          <a:p>
            <a:pPr marL="0" indent="0">
              <a:buNone/>
            </a:pPr>
            <a:r>
              <a:rPr lang="en-US" sz="1300" dirty="0">
                <a:solidFill>
                  <a:srgbClr val="1A2535"/>
                </a:solidFill>
                <a:latin typeface="Calibri" pitchFamily="34" charset="0"/>
                <a:ea typeface="Calibri" pitchFamily="34" charset="-122"/>
                <a:cs typeface="Calibri" pitchFamily="34" charset="-120"/>
              </a:rPr>
              <a:t>Application web Django dédiée à la gestion complète d'un réseau de bornes de recharge électrique.</a:t>
            </a:r>
            <a:endParaRPr lang="en-US" sz="1300" dirty="0"/>
          </a:p>
          <a:p>
            <a:pPr marL="0" indent="0">
              <a:buNone/>
            </a:pPr>
            <a:endParaRPr lang="en-US" sz="1300" dirty="0"/>
          </a:p>
          <a:p>
            <a:pPr marL="0" indent="0">
              <a:buNone/>
            </a:pPr>
            <a:r>
              <a:rPr lang="en-US" sz="1300" dirty="0">
                <a:solidFill>
                  <a:srgbClr val="1A2535"/>
                </a:solidFill>
                <a:latin typeface="Calibri" pitchFamily="34" charset="0"/>
                <a:ea typeface="Calibri" pitchFamily="34" charset="-122"/>
                <a:cs typeface="Calibri" pitchFamily="34" charset="-120"/>
              </a:rPr>
              <a:t>Elle répond aux besoins croissants de supervision numérique de l'infrastructure de mobilité électrique, en offrant une interface adaptée à chaque profil d'utilisateur.</a:t>
            </a:r>
            <a:endParaRPr lang="en-US" sz="1300" dirty="0"/>
          </a:p>
        </p:txBody>
      </p:sp>
      <p:sp>
        <p:nvSpPr>
          <p:cNvPr id="7" name="Shape 5"/>
          <p:cNvSpPr/>
          <p:nvPr/>
        </p:nvSpPr>
        <p:spPr>
          <a:xfrm>
            <a:off x="5669280" y="1051560"/>
            <a:ext cx="3200400" cy="105156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8" name="Shape 6"/>
          <p:cNvSpPr/>
          <p:nvPr/>
        </p:nvSpPr>
        <p:spPr>
          <a:xfrm>
            <a:off x="5669280" y="1051560"/>
            <a:ext cx="64008" cy="1051560"/>
          </a:xfrm>
          <a:prstGeom prst="rect">
            <a:avLst/>
          </a:prstGeom>
          <a:solidFill>
            <a:srgbClr val="1565C0"/>
          </a:solidFill>
          <a:ln w="12700">
            <a:solidFill>
              <a:srgbClr val="1565C0"/>
            </a:solidFill>
            <a:prstDash val="solid"/>
          </a:ln>
        </p:spPr>
        <p:txBody>
          <a:bodyPr/>
          <a:lstStyle/>
          <a:p>
            <a:endParaRPr lang="fr-FR"/>
          </a:p>
        </p:txBody>
      </p:sp>
      <p:sp>
        <p:nvSpPr>
          <p:cNvPr id="9" name="Text 7"/>
          <p:cNvSpPr/>
          <p:nvPr/>
        </p:nvSpPr>
        <p:spPr>
          <a:xfrm>
            <a:off x="5806440" y="1124712"/>
            <a:ext cx="2926080" cy="365760"/>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Administrateur</a:t>
            </a:r>
            <a:endParaRPr lang="en-US" sz="1400" dirty="0"/>
          </a:p>
        </p:txBody>
      </p:sp>
      <p:sp>
        <p:nvSpPr>
          <p:cNvPr id="10" name="Text 8"/>
          <p:cNvSpPr/>
          <p:nvPr/>
        </p:nvSpPr>
        <p:spPr>
          <a:xfrm>
            <a:off x="5806440" y="1527048"/>
            <a:ext cx="2926080" cy="45720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Accès complet : CRUD sessions, filtres, admin Django</a:t>
            </a:r>
            <a:endParaRPr lang="en-US" sz="1050" dirty="0"/>
          </a:p>
        </p:txBody>
      </p:sp>
      <p:sp>
        <p:nvSpPr>
          <p:cNvPr id="11" name="Shape 9"/>
          <p:cNvSpPr/>
          <p:nvPr/>
        </p:nvSpPr>
        <p:spPr>
          <a:xfrm>
            <a:off x="5669280" y="2240280"/>
            <a:ext cx="3200400" cy="105156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2" name="Shape 10"/>
          <p:cNvSpPr/>
          <p:nvPr/>
        </p:nvSpPr>
        <p:spPr>
          <a:xfrm>
            <a:off x="5669280" y="2240280"/>
            <a:ext cx="64008" cy="1051560"/>
          </a:xfrm>
          <a:prstGeom prst="rect">
            <a:avLst/>
          </a:prstGeom>
          <a:solidFill>
            <a:srgbClr val="00897B"/>
          </a:solidFill>
          <a:ln w="12700">
            <a:solidFill>
              <a:srgbClr val="00897B"/>
            </a:solidFill>
            <a:prstDash val="solid"/>
          </a:ln>
        </p:spPr>
        <p:txBody>
          <a:bodyPr/>
          <a:lstStyle/>
          <a:p>
            <a:endParaRPr lang="fr-FR"/>
          </a:p>
        </p:txBody>
      </p:sp>
      <p:sp>
        <p:nvSpPr>
          <p:cNvPr id="13" name="Text 11"/>
          <p:cNvSpPr/>
          <p:nvPr/>
        </p:nvSpPr>
        <p:spPr>
          <a:xfrm>
            <a:off x="5806440" y="2313432"/>
            <a:ext cx="2926080" cy="365760"/>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Technicien</a:t>
            </a:r>
            <a:endParaRPr lang="en-US" sz="1400" dirty="0"/>
          </a:p>
        </p:txBody>
      </p:sp>
      <p:sp>
        <p:nvSpPr>
          <p:cNvPr id="14" name="Text 12"/>
          <p:cNvSpPr/>
          <p:nvPr/>
        </p:nvSpPr>
        <p:spPr>
          <a:xfrm>
            <a:off x="5806440" y="2715768"/>
            <a:ext cx="2926080" cy="45720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Bornes en maintenance uniquement + modification statut</a:t>
            </a:r>
            <a:endParaRPr lang="en-US" sz="1050" dirty="0"/>
          </a:p>
        </p:txBody>
      </p:sp>
      <p:sp>
        <p:nvSpPr>
          <p:cNvPr id="15" name="Shape 13"/>
          <p:cNvSpPr/>
          <p:nvPr/>
        </p:nvSpPr>
        <p:spPr>
          <a:xfrm>
            <a:off x="5669280" y="3429000"/>
            <a:ext cx="3200400" cy="105156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6" name="Shape 14"/>
          <p:cNvSpPr/>
          <p:nvPr/>
        </p:nvSpPr>
        <p:spPr>
          <a:xfrm>
            <a:off x="5669280" y="3429000"/>
            <a:ext cx="64008" cy="1051560"/>
          </a:xfrm>
          <a:prstGeom prst="rect">
            <a:avLst/>
          </a:prstGeom>
          <a:solidFill>
            <a:srgbClr val="90A4AE"/>
          </a:solidFill>
          <a:ln w="12700">
            <a:solidFill>
              <a:srgbClr val="90A4AE"/>
            </a:solidFill>
            <a:prstDash val="solid"/>
          </a:ln>
        </p:spPr>
        <p:txBody>
          <a:bodyPr/>
          <a:lstStyle/>
          <a:p>
            <a:endParaRPr lang="fr-FR"/>
          </a:p>
        </p:txBody>
      </p:sp>
      <p:sp>
        <p:nvSpPr>
          <p:cNvPr id="17" name="Text 15"/>
          <p:cNvSpPr/>
          <p:nvPr/>
        </p:nvSpPr>
        <p:spPr>
          <a:xfrm>
            <a:off x="5806440" y="3502152"/>
            <a:ext cx="2926080" cy="365760"/>
          </a:xfrm>
          <a:prstGeom prst="rect">
            <a:avLst/>
          </a:prstGeom>
          <a:noFill/>
          <a:ln/>
        </p:spPr>
        <p:txBody>
          <a:bodyPr wrap="square" lIns="0" tIns="0" rIns="0" bIns="0" rtlCol="0" anchor="ctr"/>
          <a:lstStyle/>
          <a:p>
            <a:pPr marL="0" indent="0">
              <a:buNone/>
            </a:pPr>
            <a:r>
              <a:rPr lang="en-US" sz="1400" b="1" dirty="0">
                <a:solidFill>
                  <a:srgbClr val="1A2535"/>
                </a:solidFill>
                <a:latin typeface="Calibri" pitchFamily="34" charset="0"/>
                <a:ea typeface="Calibri" pitchFamily="34" charset="-122"/>
                <a:cs typeface="Calibri" pitchFamily="34" charset="-120"/>
              </a:rPr>
              <a:t>Visiteur</a:t>
            </a:r>
            <a:endParaRPr lang="en-US" sz="1400" dirty="0"/>
          </a:p>
        </p:txBody>
      </p:sp>
      <p:sp>
        <p:nvSpPr>
          <p:cNvPr id="18" name="Text 16"/>
          <p:cNvSpPr/>
          <p:nvPr/>
        </p:nvSpPr>
        <p:spPr>
          <a:xfrm>
            <a:off x="5806440" y="3904488"/>
            <a:ext cx="2926080" cy="45720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Consultation en lecture seule, aucune modification</a:t>
            </a:r>
            <a:endParaRPr lang="en-US" sz="1050" dirty="0"/>
          </a:p>
        </p:txBody>
      </p:sp>
      <p:sp>
        <p:nvSpPr>
          <p:cNvPr id="19" name="Shape 17"/>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20" name="Text 18"/>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Introduction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943600" y="-182880"/>
            <a:ext cx="3200400" cy="4572000"/>
          </a:xfrm>
          <a:prstGeom prst="rect">
            <a:avLst/>
          </a:prstGeom>
          <a:noFill/>
          <a:ln/>
        </p:spPr>
        <p:txBody>
          <a:bodyPr wrap="square" rtlCol="0" anchor="ctr"/>
          <a:lstStyle/>
          <a:p>
            <a:pPr marL="0" indent="0" algn="r">
              <a:buNone/>
            </a:pPr>
            <a:r>
              <a:rPr lang="en-US" sz="20000" b="1" dirty="0">
                <a:solidFill>
                  <a:srgbClr val="FFFFFF">
                    <a:alpha val="6000"/>
                  </a:srgbClr>
                </a:solidFill>
              </a:rPr>
              <a:t>02</a:t>
            </a:r>
            <a:endParaRPr lang="en-US" sz="20000" dirty="0"/>
          </a:p>
        </p:txBody>
      </p:sp>
      <p:sp>
        <p:nvSpPr>
          <p:cNvPr id="3" name="Shape 1"/>
          <p:cNvSpPr/>
          <p:nvPr/>
        </p:nvSpPr>
        <p:spPr>
          <a:xfrm>
            <a:off x="502920" y="1737360"/>
            <a:ext cx="73152" cy="1645920"/>
          </a:xfrm>
          <a:prstGeom prst="rect">
            <a:avLst/>
          </a:prstGeom>
          <a:solidFill>
            <a:srgbClr val="1E88E5"/>
          </a:solidFill>
          <a:ln w="12700">
            <a:solidFill>
              <a:srgbClr val="1E88E5"/>
            </a:solidFill>
            <a:prstDash val="solid"/>
          </a:ln>
        </p:spPr>
        <p:txBody>
          <a:bodyPr/>
          <a:lstStyle/>
          <a:p>
            <a:endParaRPr lang="fr-FR"/>
          </a:p>
        </p:txBody>
      </p:sp>
      <p:sp>
        <p:nvSpPr>
          <p:cNvPr id="4" name="Text 2"/>
          <p:cNvSpPr/>
          <p:nvPr/>
        </p:nvSpPr>
        <p:spPr>
          <a:xfrm>
            <a:off x="685800" y="173736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Architecture Technique</a:t>
            </a:r>
            <a:endParaRPr lang="en-US" sz="4000" dirty="0"/>
          </a:p>
        </p:txBody>
      </p:sp>
      <p:sp>
        <p:nvSpPr>
          <p:cNvPr id="5" name="Text 3"/>
          <p:cNvSpPr/>
          <p:nvPr/>
        </p:nvSpPr>
        <p:spPr>
          <a:xfrm>
            <a:off x="685800" y="2697480"/>
            <a:ext cx="7772400" cy="731520"/>
          </a:xfrm>
          <a:prstGeom prst="rect">
            <a:avLst/>
          </a:prstGeom>
          <a:noFill/>
          <a:ln/>
        </p:spPr>
        <p:txBody>
          <a:bodyPr wrap="square" lIns="0" tIns="0" rIns="0" bIns="0" rtlCol="0" anchor="ctr"/>
          <a:lstStyle/>
          <a:p>
            <a:pPr marL="0" indent="0">
              <a:buNone/>
            </a:pPr>
            <a:r>
              <a:rPr lang="en-US" sz="1800" dirty="0">
                <a:solidFill>
                  <a:srgbClr val="90A4AE"/>
                </a:solidFill>
                <a:latin typeface="Calibri" pitchFamily="34" charset="0"/>
                <a:ea typeface="Calibri" pitchFamily="34" charset="-122"/>
                <a:cs typeface="Calibri" pitchFamily="34" charset="-120"/>
              </a:rPr>
              <a:t>Structure du projet, flux de navigation et fichiers clés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fr-FR"/>
          </a:p>
        </p:txBody>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Structure du Projet Django</a:t>
            </a:r>
            <a:endParaRPr lang="en-US" sz="2600" dirty="0"/>
          </a:p>
        </p:txBody>
      </p:sp>
      <p:sp>
        <p:nvSpPr>
          <p:cNvPr id="4" name="Shape 2"/>
          <p:cNvSpPr/>
          <p:nvPr/>
        </p:nvSpPr>
        <p:spPr>
          <a:xfrm>
            <a:off x="274320" y="1051560"/>
            <a:ext cx="4160520" cy="105156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274320" y="1051560"/>
            <a:ext cx="64008" cy="1051560"/>
          </a:xfrm>
          <a:prstGeom prst="rect">
            <a:avLst/>
          </a:prstGeom>
          <a:solidFill>
            <a:srgbClr val="1565C0"/>
          </a:solidFill>
          <a:ln w="12700">
            <a:solidFill>
              <a:srgbClr val="1565C0"/>
            </a:solidFill>
            <a:prstDash val="solid"/>
          </a:ln>
        </p:spPr>
        <p:txBody>
          <a:bodyPr/>
          <a:lstStyle/>
          <a:p>
            <a:endParaRPr lang="fr-FR"/>
          </a:p>
        </p:txBody>
      </p:sp>
      <p:sp>
        <p:nvSpPr>
          <p:cNvPr id="6" name="Text 4"/>
          <p:cNvSpPr/>
          <p:nvPr/>
        </p:nvSpPr>
        <p:spPr>
          <a:xfrm>
            <a:off x="438912" y="1143000"/>
            <a:ext cx="3840480" cy="365760"/>
          </a:xfrm>
          <a:prstGeom prst="rect">
            <a:avLst/>
          </a:prstGeom>
          <a:noFill/>
          <a:ln/>
        </p:spPr>
        <p:txBody>
          <a:bodyPr wrap="square" lIns="0" tIns="0" rIns="0" bIns="0" rtlCol="0" anchor="ctr"/>
          <a:lstStyle/>
          <a:p>
            <a:pPr marL="0" indent="0">
              <a:buNone/>
            </a:pPr>
            <a:r>
              <a:rPr lang="en-US" sz="1300" b="1" dirty="0">
                <a:solidFill>
                  <a:srgbClr val="1A2535"/>
                </a:solidFill>
                <a:latin typeface="Consolas" pitchFamily="34" charset="0"/>
                <a:ea typeface="Consolas" pitchFamily="34" charset="-122"/>
                <a:cs typeface="Consolas" pitchFamily="34" charset="-120"/>
              </a:rPr>
              <a:t>settings.py</a:t>
            </a:r>
            <a:endParaRPr lang="en-US" sz="1300" dirty="0"/>
          </a:p>
        </p:txBody>
      </p:sp>
      <p:sp>
        <p:nvSpPr>
          <p:cNvPr id="7" name="Text 5"/>
          <p:cNvSpPr/>
          <p:nvPr/>
        </p:nvSpPr>
        <p:spPr>
          <a:xfrm>
            <a:off x="438912" y="1554480"/>
            <a:ext cx="3840480" cy="41148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Configuration Django, DB, auth</a:t>
            </a:r>
            <a:endParaRPr lang="en-US" sz="1050" dirty="0"/>
          </a:p>
        </p:txBody>
      </p:sp>
      <p:sp>
        <p:nvSpPr>
          <p:cNvPr id="8" name="Shape 6"/>
          <p:cNvSpPr/>
          <p:nvPr/>
        </p:nvSpPr>
        <p:spPr>
          <a:xfrm>
            <a:off x="274320" y="2286000"/>
            <a:ext cx="4160520" cy="105156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9" name="Shape 7"/>
          <p:cNvSpPr/>
          <p:nvPr/>
        </p:nvSpPr>
        <p:spPr>
          <a:xfrm>
            <a:off x="274320" y="2286000"/>
            <a:ext cx="64008" cy="1051560"/>
          </a:xfrm>
          <a:prstGeom prst="rect">
            <a:avLst/>
          </a:prstGeom>
          <a:solidFill>
            <a:srgbClr val="1565C0"/>
          </a:solidFill>
          <a:ln w="12700">
            <a:solidFill>
              <a:srgbClr val="1565C0"/>
            </a:solidFill>
            <a:prstDash val="solid"/>
          </a:ln>
        </p:spPr>
        <p:txBody>
          <a:bodyPr/>
          <a:lstStyle/>
          <a:p>
            <a:endParaRPr lang="fr-FR"/>
          </a:p>
        </p:txBody>
      </p:sp>
      <p:sp>
        <p:nvSpPr>
          <p:cNvPr id="10" name="Text 8"/>
          <p:cNvSpPr/>
          <p:nvPr/>
        </p:nvSpPr>
        <p:spPr>
          <a:xfrm>
            <a:off x="438912" y="2377440"/>
            <a:ext cx="3840480" cy="365760"/>
          </a:xfrm>
          <a:prstGeom prst="rect">
            <a:avLst/>
          </a:prstGeom>
          <a:noFill/>
          <a:ln/>
        </p:spPr>
        <p:txBody>
          <a:bodyPr wrap="square" lIns="0" tIns="0" rIns="0" bIns="0" rtlCol="0" anchor="ctr"/>
          <a:lstStyle/>
          <a:p>
            <a:pPr marL="0" indent="0">
              <a:buNone/>
            </a:pPr>
            <a:r>
              <a:rPr lang="en-US" sz="1300" b="1" dirty="0">
                <a:solidFill>
                  <a:srgbClr val="1A2535"/>
                </a:solidFill>
                <a:latin typeface="Consolas" pitchFamily="34" charset="0"/>
                <a:ea typeface="Consolas" pitchFamily="34" charset="-122"/>
                <a:cs typeface="Consolas" pitchFamily="34" charset="-120"/>
              </a:rPr>
              <a:t>urls.py</a:t>
            </a:r>
            <a:endParaRPr lang="en-US" sz="1300" dirty="0"/>
          </a:p>
        </p:txBody>
      </p:sp>
      <p:sp>
        <p:nvSpPr>
          <p:cNvPr id="11" name="Text 9"/>
          <p:cNvSpPr/>
          <p:nvPr/>
        </p:nvSpPr>
        <p:spPr>
          <a:xfrm>
            <a:off x="438912" y="2788920"/>
            <a:ext cx="3840480" cy="41148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Routage principal de l'application</a:t>
            </a:r>
            <a:endParaRPr lang="en-US" sz="1050" dirty="0"/>
          </a:p>
        </p:txBody>
      </p:sp>
      <p:sp>
        <p:nvSpPr>
          <p:cNvPr id="12" name="Shape 10"/>
          <p:cNvSpPr/>
          <p:nvPr/>
        </p:nvSpPr>
        <p:spPr>
          <a:xfrm>
            <a:off x="274320" y="3520440"/>
            <a:ext cx="4160520" cy="105156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3" name="Shape 11"/>
          <p:cNvSpPr/>
          <p:nvPr/>
        </p:nvSpPr>
        <p:spPr>
          <a:xfrm>
            <a:off x="274320" y="3520440"/>
            <a:ext cx="64008" cy="1051560"/>
          </a:xfrm>
          <a:prstGeom prst="rect">
            <a:avLst/>
          </a:prstGeom>
          <a:solidFill>
            <a:srgbClr val="00897B"/>
          </a:solidFill>
          <a:ln w="12700">
            <a:solidFill>
              <a:srgbClr val="00897B"/>
            </a:solidFill>
            <a:prstDash val="solid"/>
          </a:ln>
        </p:spPr>
        <p:txBody>
          <a:bodyPr/>
          <a:lstStyle/>
          <a:p>
            <a:endParaRPr lang="fr-FR"/>
          </a:p>
        </p:txBody>
      </p:sp>
      <p:sp>
        <p:nvSpPr>
          <p:cNvPr id="14" name="Text 12"/>
          <p:cNvSpPr/>
          <p:nvPr/>
        </p:nvSpPr>
        <p:spPr>
          <a:xfrm>
            <a:off x="438912" y="3611880"/>
            <a:ext cx="3840480" cy="365760"/>
          </a:xfrm>
          <a:prstGeom prst="rect">
            <a:avLst/>
          </a:prstGeom>
          <a:noFill/>
          <a:ln/>
        </p:spPr>
        <p:txBody>
          <a:bodyPr wrap="square" lIns="0" tIns="0" rIns="0" bIns="0" rtlCol="0" anchor="ctr"/>
          <a:lstStyle/>
          <a:p>
            <a:pPr marL="0" indent="0">
              <a:buNone/>
            </a:pPr>
            <a:r>
              <a:rPr lang="en-US" sz="1300" b="1" dirty="0">
                <a:solidFill>
                  <a:srgbClr val="1A2535"/>
                </a:solidFill>
                <a:latin typeface="Consolas" pitchFamily="34" charset="0"/>
                <a:ea typeface="Consolas" pitchFamily="34" charset="-122"/>
                <a:cs typeface="Consolas" pitchFamily="34" charset="-120"/>
              </a:rPr>
              <a:t>models.py</a:t>
            </a:r>
            <a:endParaRPr lang="en-US" sz="1300" dirty="0"/>
          </a:p>
        </p:txBody>
      </p:sp>
      <p:sp>
        <p:nvSpPr>
          <p:cNvPr id="15" name="Text 13"/>
          <p:cNvSpPr/>
          <p:nvPr/>
        </p:nvSpPr>
        <p:spPr>
          <a:xfrm>
            <a:off x="438912" y="4023360"/>
            <a:ext cx="3840480" cy="41148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3 modèles : TypeConnecteur, Borne, SessionCharge</a:t>
            </a:r>
            <a:endParaRPr lang="en-US" sz="1050" dirty="0"/>
          </a:p>
        </p:txBody>
      </p:sp>
      <p:sp>
        <p:nvSpPr>
          <p:cNvPr id="16" name="Shape 14"/>
          <p:cNvSpPr/>
          <p:nvPr/>
        </p:nvSpPr>
        <p:spPr>
          <a:xfrm>
            <a:off x="4709160" y="1051560"/>
            <a:ext cx="4160520" cy="105156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5"/>
          <p:cNvSpPr/>
          <p:nvPr/>
        </p:nvSpPr>
        <p:spPr>
          <a:xfrm>
            <a:off x="4709160" y="1051560"/>
            <a:ext cx="64008" cy="1051560"/>
          </a:xfrm>
          <a:prstGeom prst="rect">
            <a:avLst/>
          </a:prstGeom>
          <a:solidFill>
            <a:srgbClr val="00897B"/>
          </a:solidFill>
          <a:ln w="12700">
            <a:solidFill>
              <a:srgbClr val="00897B"/>
            </a:solidFill>
            <a:prstDash val="solid"/>
          </a:ln>
        </p:spPr>
        <p:txBody>
          <a:bodyPr/>
          <a:lstStyle/>
          <a:p>
            <a:endParaRPr lang="fr-FR"/>
          </a:p>
        </p:txBody>
      </p:sp>
      <p:sp>
        <p:nvSpPr>
          <p:cNvPr id="18" name="Text 16"/>
          <p:cNvSpPr/>
          <p:nvPr/>
        </p:nvSpPr>
        <p:spPr>
          <a:xfrm>
            <a:off x="4873752" y="1143000"/>
            <a:ext cx="3840480" cy="365760"/>
          </a:xfrm>
          <a:prstGeom prst="rect">
            <a:avLst/>
          </a:prstGeom>
          <a:noFill/>
          <a:ln/>
        </p:spPr>
        <p:txBody>
          <a:bodyPr wrap="square" lIns="0" tIns="0" rIns="0" bIns="0" rtlCol="0" anchor="ctr"/>
          <a:lstStyle/>
          <a:p>
            <a:pPr marL="0" indent="0">
              <a:buNone/>
            </a:pPr>
            <a:r>
              <a:rPr lang="en-US" sz="1300" b="1" dirty="0">
                <a:solidFill>
                  <a:srgbClr val="1A2535"/>
                </a:solidFill>
                <a:latin typeface="Consolas" pitchFamily="34" charset="0"/>
                <a:ea typeface="Consolas" pitchFamily="34" charset="-122"/>
                <a:cs typeface="Consolas" pitchFamily="34" charset="-120"/>
              </a:rPr>
              <a:t>views.py</a:t>
            </a:r>
            <a:endParaRPr lang="en-US" sz="1300" dirty="0"/>
          </a:p>
        </p:txBody>
      </p:sp>
      <p:sp>
        <p:nvSpPr>
          <p:cNvPr id="19" name="Text 17"/>
          <p:cNvSpPr/>
          <p:nvPr/>
        </p:nvSpPr>
        <p:spPr>
          <a:xfrm>
            <a:off x="4873752" y="1554480"/>
            <a:ext cx="3840480" cy="41148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9 vues — classes et fonctions</a:t>
            </a:r>
            <a:endParaRPr lang="en-US" sz="1050" dirty="0"/>
          </a:p>
        </p:txBody>
      </p:sp>
      <p:sp>
        <p:nvSpPr>
          <p:cNvPr id="20" name="Shape 18"/>
          <p:cNvSpPr/>
          <p:nvPr/>
        </p:nvSpPr>
        <p:spPr>
          <a:xfrm>
            <a:off x="4709160" y="2286000"/>
            <a:ext cx="4160520" cy="105156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1" name="Shape 19"/>
          <p:cNvSpPr/>
          <p:nvPr/>
        </p:nvSpPr>
        <p:spPr>
          <a:xfrm>
            <a:off x="4709160" y="2286000"/>
            <a:ext cx="64008" cy="1051560"/>
          </a:xfrm>
          <a:prstGeom prst="rect">
            <a:avLst/>
          </a:prstGeom>
          <a:solidFill>
            <a:srgbClr val="F39C12"/>
          </a:solidFill>
          <a:ln w="12700">
            <a:solidFill>
              <a:srgbClr val="F39C12"/>
            </a:solidFill>
            <a:prstDash val="solid"/>
          </a:ln>
        </p:spPr>
        <p:txBody>
          <a:bodyPr/>
          <a:lstStyle/>
          <a:p>
            <a:endParaRPr lang="fr-FR"/>
          </a:p>
        </p:txBody>
      </p:sp>
      <p:sp>
        <p:nvSpPr>
          <p:cNvPr id="22" name="Text 20"/>
          <p:cNvSpPr/>
          <p:nvPr/>
        </p:nvSpPr>
        <p:spPr>
          <a:xfrm>
            <a:off x="4873752" y="2377440"/>
            <a:ext cx="3840480" cy="365760"/>
          </a:xfrm>
          <a:prstGeom prst="rect">
            <a:avLst/>
          </a:prstGeom>
          <a:noFill/>
          <a:ln/>
        </p:spPr>
        <p:txBody>
          <a:bodyPr wrap="square" lIns="0" tIns="0" rIns="0" bIns="0" rtlCol="0" anchor="ctr"/>
          <a:lstStyle/>
          <a:p>
            <a:pPr marL="0" indent="0">
              <a:buNone/>
            </a:pPr>
            <a:r>
              <a:rPr lang="en-US" sz="1300" b="1" dirty="0">
                <a:solidFill>
                  <a:srgbClr val="1A2535"/>
                </a:solidFill>
                <a:latin typeface="Consolas" pitchFamily="34" charset="0"/>
                <a:ea typeface="Consolas" pitchFamily="34" charset="-122"/>
                <a:cs typeface="Consolas" pitchFamily="34" charset="-120"/>
              </a:rPr>
              <a:t>forms.py</a:t>
            </a:r>
            <a:endParaRPr lang="en-US" sz="1300" dirty="0"/>
          </a:p>
        </p:txBody>
      </p:sp>
      <p:sp>
        <p:nvSpPr>
          <p:cNvPr id="23" name="Text 21"/>
          <p:cNvSpPr/>
          <p:nvPr/>
        </p:nvSpPr>
        <p:spPr>
          <a:xfrm>
            <a:off x="4873752" y="2788920"/>
            <a:ext cx="3840480" cy="41148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SessionChargeForm + BorneStatusForm</a:t>
            </a:r>
            <a:endParaRPr lang="en-US" sz="1050" dirty="0"/>
          </a:p>
        </p:txBody>
      </p:sp>
      <p:sp>
        <p:nvSpPr>
          <p:cNvPr id="24" name="Shape 22"/>
          <p:cNvSpPr/>
          <p:nvPr/>
        </p:nvSpPr>
        <p:spPr>
          <a:xfrm>
            <a:off x="4709160" y="3520440"/>
            <a:ext cx="4160520" cy="105156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5" name="Shape 23"/>
          <p:cNvSpPr/>
          <p:nvPr/>
        </p:nvSpPr>
        <p:spPr>
          <a:xfrm>
            <a:off x="4709160" y="3520440"/>
            <a:ext cx="64008" cy="1051560"/>
          </a:xfrm>
          <a:prstGeom prst="rect">
            <a:avLst/>
          </a:prstGeom>
          <a:solidFill>
            <a:srgbClr val="F39C12"/>
          </a:solidFill>
          <a:ln w="12700">
            <a:solidFill>
              <a:srgbClr val="F39C12"/>
            </a:solidFill>
            <a:prstDash val="solid"/>
          </a:ln>
        </p:spPr>
        <p:txBody>
          <a:bodyPr/>
          <a:lstStyle/>
          <a:p>
            <a:endParaRPr lang="fr-FR"/>
          </a:p>
        </p:txBody>
      </p:sp>
      <p:sp>
        <p:nvSpPr>
          <p:cNvPr id="26" name="Text 24"/>
          <p:cNvSpPr/>
          <p:nvPr/>
        </p:nvSpPr>
        <p:spPr>
          <a:xfrm>
            <a:off x="4873752" y="3611880"/>
            <a:ext cx="3840480" cy="365760"/>
          </a:xfrm>
          <a:prstGeom prst="rect">
            <a:avLst/>
          </a:prstGeom>
          <a:noFill/>
          <a:ln/>
        </p:spPr>
        <p:txBody>
          <a:bodyPr wrap="square" lIns="0" tIns="0" rIns="0" bIns="0" rtlCol="0" anchor="ctr"/>
          <a:lstStyle/>
          <a:p>
            <a:pPr marL="0" indent="0">
              <a:buNone/>
            </a:pPr>
            <a:r>
              <a:rPr lang="en-US" sz="1300" b="1" dirty="0">
                <a:solidFill>
                  <a:srgbClr val="1A2535"/>
                </a:solidFill>
                <a:latin typeface="Consolas" pitchFamily="34" charset="0"/>
                <a:ea typeface="Consolas" pitchFamily="34" charset="-122"/>
                <a:cs typeface="Consolas" pitchFamily="34" charset="-120"/>
              </a:rPr>
              <a:t>admin.py</a:t>
            </a:r>
            <a:endParaRPr lang="en-US" sz="1300" dirty="0"/>
          </a:p>
        </p:txBody>
      </p:sp>
      <p:sp>
        <p:nvSpPr>
          <p:cNvPr id="27" name="Text 25"/>
          <p:cNvSpPr/>
          <p:nvPr/>
        </p:nvSpPr>
        <p:spPr>
          <a:xfrm>
            <a:off x="4873752" y="4023360"/>
            <a:ext cx="3840480" cy="41148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Interface admin personnalisée</a:t>
            </a:r>
            <a:endParaRPr lang="en-US" sz="1050" dirty="0"/>
          </a:p>
        </p:txBody>
      </p:sp>
      <p:sp>
        <p:nvSpPr>
          <p:cNvPr id="28" name="Shape 26"/>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29" name="Text 27"/>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Architecture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943600" y="-182880"/>
            <a:ext cx="3200400" cy="4572000"/>
          </a:xfrm>
          <a:prstGeom prst="rect">
            <a:avLst/>
          </a:prstGeom>
          <a:noFill/>
          <a:ln/>
        </p:spPr>
        <p:txBody>
          <a:bodyPr wrap="square" rtlCol="0" anchor="ctr"/>
          <a:lstStyle/>
          <a:p>
            <a:pPr marL="0" indent="0" algn="r">
              <a:buNone/>
            </a:pPr>
            <a:r>
              <a:rPr lang="en-US" sz="20000" b="1" dirty="0">
                <a:solidFill>
                  <a:srgbClr val="FFFFFF">
                    <a:alpha val="6000"/>
                  </a:srgbClr>
                </a:solidFill>
              </a:rPr>
              <a:t>03</a:t>
            </a:r>
            <a:endParaRPr lang="en-US" sz="20000" dirty="0"/>
          </a:p>
        </p:txBody>
      </p:sp>
      <p:sp>
        <p:nvSpPr>
          <p:cNvPr id="3" name="Shape 1"/>
          <p:cNvSpPr/>
          <p:nvPr/>
        </p:nvSpPr>
        <p:spPr>
          <a:xfrm>
            <a:off x="502920" y="1737360"/>
            <a:ext cx="73152" cy="1645920"/>
          </a:xfrm>
          <a:prstGeom prst="rect">
            <a:avLst/>
          </a:prstGeom>
          <a:solidFill>
            <a:srgbClr val="1E88E5"/>
          </a:solidFill>
          <a:ln w="12700">
            <a:solidFill>
              <a:srgbClr val="1E88E5"/>
            </a:solidFill>
            <a:prstDash val="solid"/>
          </a:ln>
        </p:spPr>
        <p:txBody>
          <a:bodyPr/>
          <a:lstStyle/>
          <a:p>
            <a:endParaRPr lang="fr-FR"/>
          </a:p>
        </p:txBody>
      </p:sp>
      <p:sp>
        <p:nvSpPr>
          <p:cNvPr id="4" name="Text 2"/>
          <p:cNvSpPr/>
          <p:nvPr/>
        </p:nvSpPr>
        <p:spPr>
          <a:xfrm>
            <a:off x="685800" y="173736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Modèle de Données</a:t>
            </a:r>
            <a:endParaRPr lang="en-US" sz="4000" dirty="0"/>
          </a:p>
        </p:txBody>
      </p:sp>
      <p:sp>
        <p:nvSpPr>
          <p:cNvPr id="5" name="Text 3"/>
          <p:cNvSpPr/>
          <p:nvPr/>
        </p:nvSpPr>
        <p:spPr>
          <a:xfrm>
            <a:off x="685800" y="2697480"/>
            <a:ext cx="7772400" cy="731520"/>
          </a:xfrm>
          <a:prstGeom prst="rect">
            <a:avLst/>
          </a:prstGeom>
          <a:noFill/>
          <a:ln/>
        </p:spPr>
        <p:txBody>
          <a:bodyPr wrap="square" lIns="0" tIns="0" rIns="0" bIns="0" rtlCol="0" anchor="ctr"/>
          <a:lstStyle/>
          <a:p>
            <a:pPr marL="0" indent="0">
              <a:buNone/>
            </a:pPr>
            <a:r>
              <a:rPr lang="en-US" sz="1800" dirty="0">
                <a:solidFill>
                  <a:srgbClr val="90A4AE"/>
                </a:solidFill>
                <a:latin typeface="Calibri" pitchFamily="34" charset="0"/>
                <a:ea typeface="Calibri" pitchFamily="34" charset="-122"/>
                <a:cs typeface="Calibri" pitchFamily="34" charset="-120"/>
              </a:rPr>
              <a:t>Entités, attributs, relations et contraintes d'intégrité</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fr-FR"/>
          </a:p>
        </p:txBody>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Diagramme Entité-Association</a:t>
            </a:r>
            <a:endParaRPr lang="en-US" sz="2600" dirty="0"/>
          </a:p>
        </p:txBody>
      </p:sp>
      <p:sp>
        <p:nvSpPr>
          <p:cNvPr id="4" name="Shape 2"/>
          <p:cNvSpPr/>
          <p:nvPr/>
        </p:nvSpPr>
        <p:spPr>
          <a:xfrm>
            <a:off x="274320" y="1051560"/>
            <a:ext cx="2560320" cy="3200400"/>
          </a:xfrm>
          <a:prstGeom prst="rect">
            <a:avLst/>
          </a:prstGeom>
          <a:solidFill>
            <a:srgbClr val="E3F2FD"/>
          </a:solidFill>
          <a:ln w="12700">
            <a:solidFill>
              <a:srgbClr val="1565C0"/>
            </a:solidFill>
            <a:prstDash val="solid"/>
          </a:ln>
        </p:spPr>
        <p:txBody>
          <a:bodyPr/>
          <a:lstStyle/>
          <a:p>
            <a:endParaRPr lang="fr-FR"/>
          </a:p>
        </p:txBody>
      </p:sp>
      <p:sp>
        <p:nvSpPr>
          <p:cNvPr id="5" name="Shape 3"/>
          <p:cNvSpPr/>
          <p:nvPr/>
        </p:nvSpPr>
        <p:spPr>
          <a:xfrm>
            <a:off x="274320" y="1051560"/>
            <a:ext cx="2560320" cy="457200"/>
          </a:xfrm>
          <a:prstGeom prst="rect">
            <a:avLst/>
          </a:prstGeom>
          <a:solidFill>
            <a:srgbClr val="1565C0"/>
          </a:solidFill>
          <a:ln w="12700">
            <a:solidFill>
              <a:srgbClr val="1565C0"/>
            </a:solidFill>
            <a:prstDash val="solid"/>
          </a:ln>
        </p:spPr>
        <p:txBody>
          <a:bodyPr/>
          <a:lstStyle/>
          <a:p>
            <a:endParaRPr lang="fr-FR"/>
          </a:p>
        </p:txBody>
      </p:sp>
      <p:sp>
        <p:nvSpPr>
          <p:cNvPr id="6" name="Text 4"/>
          <p:cNvSpPr/>
          <p:nvPr/>
        </p:nvSpPr>
        <p:spPr>
          <a:xfrm>
            <a:off x="274320" y="1051560"/>
            <a:ext cx="25603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TypeConnecteur</a:t>
            </a:r>
            <a:endParaRPr lang="en-US" sz="1200" dirty="0"/>
          </a:p>
        </p:txBody>
      </p:sp>
      <p:sp>
        <p:nvSpPr>
          <p:cNvPr id="7" name="Text 5"/>
          <p:cNvSpPr/>
          <p:nvPr/>
        </p:nvSpPr>
        <p:spPr>
          <a:xfrm>
            <a:off x="365760" y="1572768"/>
            <a:ext cx="2377440" cy="1645920"/>
          </a:xfrm>
          <a:prstGeom prst="rect">
            <a:avLst/>
          </a:prstGeom>
          <a:noFill/>
          <a:ln/>
        </p:spPr>
        <p:txBody>
          <a:bodyPr wrap="square" rtlCol="0" anchor="ctr"/>
          <a:lstStyle/>
          <a:p>
            <a:pPr marL="0" indent="0">
              <a:buNone/>
            </a:pPr>
            <a:r>
              <a:rPr lang="en-US" sz="1100" dirty="0">
                <a:solidFill>
                  <a:srgbClr val="1A2535"/>
                </a:solidFill>
                <a:latin typeface="Consolas" pitchFamily="34" charset="0"/>
                <a:ea typeface="Consolas" pitchFamily="34" charset="-122"/>
                <a:cs typeface="Consolas" pitchFamily="34" charset="-120"/>
              </a:rPr>
              <a:t>PK  id</a:t>
            </a:r>
            <a:endParaRPr lang="en-US" sz="1100" dirty="0"/>
          </a:p>
          <a:p>
            <a:pPr marL="0" indent="0">
              <a:buNone/>
            </a:pPr>
            <a:r>
              <a:rPr lang="en-US" sz="1100" dirty="0">
                <a:solidFill>
                  <a:srgbClr val="1A2535"/>
                </a:solidFill>
                <a:latin typeface="Consolas" pitchFamily="34" charset="0"/>
                <a:ea typeface="Consolas" pitchFamily="34" charset="-122"/>
                <a:cs typeface="Consolas" pitchFamily="34" charset="-120"/>
              </a:rPr>
              <a:t>nom (unique)</a:t>
            </a:r>
            <a:endParaRPr lang="en-US" sz="1100" dirty="0"/>
          </a:p>
          <a:p>
            <a:pPr marL="0" indent="0">
              <a:buNone/>
            </a:pPr>
            <a:r>
              <a:rPr lang="en-US" sz="1100" dirty="0">
                <a:solidFill>
                  <a:srgbClr val="1A2535"/>
                </a:solidFill>
                <a:latin typeface="Consolas" pitchFamily="34" charset="0"/>
                <a:ea typeface="Consolas" pitchFamily="34" charset="-122"/>
                <a:cs typeface="Consolas" pitchFamily="34" charset="-120"/>
              </a:rPr>
              <a:t>vitesse_charge</a:t>
            </a:r>
            <a:endParaRPr lang="en-US" sz="1100" dirty="0"/>
          </a:p>
        </p:txBody>
      </p:sp>
      <p:sp>
        <p:nvSpPr>
          <p:cNvPr id="8" name="Shape 6"/>
          <p:cNvSpPr/>
          <p:nvPr/>
        </p:nvSpPr>
        <p:spPr>
          <a:xfrm>
            <a:off x="3291840" y="1051560"/>
            <a:ext cx="2926080" cy="3200400"/>
          </a:xfrm>
          <a:prstGeom prst="rect">
            <a:avLst/>
          </a:prstGeom>
          <a:solidFill>
            <a:srgbClr val="FFF8E1"/>
          </a:solidFill>
          <a:ln w="12700">
            <a:solidFill>
              <a:srgbClr val="F39C12"/>
            </a:solidFill>
            <a:prstDash val="solid"/>
          </a:ln>
        </p:spPr>
        <p:txBody>
          <a:bodyPr/>
          <a:lstStyle/>
          <a:p>
            <a:endParaRPr lang="fr-FR"/>
          </a:p>
        </p:txBody>
      </p:sp>
      <p:sp>
        <p:nvSpPr>
          <p:cNvPr id="9" name="Shape 7"/>
          <p:cNvSpPr/>
          <p:nvPr/>
        </p:nvSpPr>
        <p:spPr>
          <a:xfrm>
            <a:off x="3291840" y="1051560"/>
            <a:ext cx="2926080" cy="457200"/>
          </a:xfrm>
          <a:prstGeom prst="rect">
            <a:avLst/>
          </a:prstGeom>
          <a:solidFill>
            <a:srgbClr val="F39C12"/>
          </a:solidFill>
          <a:ln w="12700">
            <a:solidFill>
              <a:srgbClr val="F39C12"/>
            </a:solidFill>
            <a:prstDash val="solid"/>
          </a:ln>
        </p:spPr>
        <p:txBody>
          <a:bodyPr/>
          <a:lstStyle/>
          <a:p>
            <a:endParaRPr lang="fr-FR"/>
          </a:p>
        </p:txBody>
      </p:sp>
      <p:sp>
        <p:nvSpPr>
          <p:cNvPr id="10" name="Text 8"/>
          <p:cNvSpPr/>
          <p:nvPr/>
        </p:nvSpPr>
        <p:spPr>
          <a:xfrm>
            <a:off x="3291840" y="1051560"/>
            <a:ext cx="292608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Borne</a:t>
            </a:r>
            <a:endParaRPr lang="en-US" sz="1200" dirty="0"/>
          </a:p>
        </p:txBody>
      </p:sp>
      <p:sp>
        <p:nvSpPr>
          <p:cNvPr id="11" name="Text 9"/>
          <p:cNvSpPr/>
          <p:nvPr/>
        </p:nvSpPr>
        <p:spPr>
          <a:xfrm>
            <a:off x="3383280" y="1572768"/>
            <a:ext cx="2743200" cy="2468880"/>
          </a:xfrm>
          <a:prstGeom prst="rect">
            <a:avLst/>
          </a:prstGeom>
          <a:noFill/>
          <a:ln/>
        </p:spPr>
        <p:txBody>
          <a:bodyPr wrap="square" rtlCol="0" anchor="ctr"/>
          <a:lstStyle/>
          <a:p>
            <a:pPr marL="0" indent="0">
              <a:buNone/>
            </a:pPr>
            <a:r>
              <a:rPr lang="en-US" sz="1000" dirty="0">
                <a:solidFill>
                  <a:srgbClr val="1A2535"/>
                </a:solidFill>
                <a:latin typeface="Consolas" pitchFamily="34" charset="0"/>
                <a:ea typeface="Consolas" pitchFamily="34" charset="-122"/>
                <a:cs typeface="Consolas" pitchFamily="34" charset="-120"/>
              </a:rPr>
              <a:t>PK  id</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FK  type_connecteur</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identifiant (unique)</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emplacement</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ville</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puissance_kw</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statut (libre/occupée/maint.)</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date_installation</a:t>
            </a:r>
            <a:endParaRPr lang="en-US" sz="1000" dirty="0"/>
          </a:p>
        </p:txBody>
      </p:sp>
      <p:sp>
        <p:nvSpPr>
          <p:cNvPr id="12" name="Shape 10"/>
          <p:cNvSpPr/>
          <p:nvPr/>
        </p:nvSpPr>
        <p:spPr>
          <a:xfrm>
            <a:off x="6583680" y="1051560"/>
            <a:ext cx="2286000" cy="3200400"/>
          </a:xfrm>
          <a:prstGeom prst="rect">
            <a:avLst/>
          </a:prstGeom>
          <a:solidFill>
            <a:srgbClr val="E8F5E9"/>
          </a:solidFill>
          <a:ln w="12700">
            <a:solidFill>
              <a:srgbClr val="27AE60"/>
            </a:solidFill>
            <a:prstDash val="solid"/>
          </a:ln>
        </p:spPr>
        <p:txBody>
          <a:bodyPr/>
          <a:lstStyle/>
          <a:p>
            <a:endParaRPr lang="fr-FR"/>
          </a:p>
        </p:txBody>
      </p:sp>
      <p:sp>
        <p:nvSpPr>
          <p:cNvPr id="13" name="Shape 11"/>
          <p:cNvSpPr/>
          <p:nvPr/>
        </p:nvSpPr>
        <p:spPr>
          <a:xfrm>
            <a:off x="6583680" y="1051560"/>
            <a:ext cx="2286000" cy="457200"/>
          </a:xfrm>
          <a:prstGeom prst="rect">
            <a:avLst/>
          </a:prstGeom>
          <a:solidFill>
            <a:srgbClr val="27AE60"/>
          </a:solidFill>
          <a:ln w="12700">
            <a:solidFill>
              <a:srgbClr val="27AE60"/>
            </a:solidFill>
            <a:prstDash val="solid"/>
          </a:ln>
        </p:spPr>
        <p:txBody>
          <a:bodyPr/>
          <a:lstStyle/>
          <a:p>
            <a:endParaRPr lang="fr-FR"/>
          </a:p>
        </p:txBody>
      </p:sp>
      <p:sp>
        <p:nvSpPr>
          <p:cNvPr id="14" name="Text 12"/>
          <p:cNvSpPr/>
          <p:nvPr/>
        </p:nvSpPr>
        <p:spPr>
          <a:xfrm>
            <a:off x="6583680" y="1051560"/>
            <a:ext cx="22860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SessionCharge</a:t>
            </a:r>
            <a:endParaRPr lang="en-US" sz="1200" dirty="0"/>
          </a:p>
        </p:txBody>
      </p:sp>
      <p:sp>
        <p:nvSpPr>
          <p:cNvPr id="15" name="Text 13"/>
          <p:cNvSpPr/>
          <p:nvPr/>
        </p:nvSpPr>
        <p:spPr>
          <a:xfrm>
            <a:off x="6675120" y="1572768"/>
            <a:ext cx="2103120" cy="2286000"/>
          </a:xfrm>
          <a:prstGeom prst="rect">
            <a:avLst/>
          </a:prstGeom>
          <a:noFill/>
          <a:ln/>
        </p:spPr>
        <p:txBody>
          <a:bodyPr wrap="square" rtlCol="0" anchor="ctr"/>
          <a:lstStyle/>
          <a:p>
            <a:pPr marL="0" indent="0">
              <a:buNone/>
            </a:pPr>
            <a:r>
              <a:rPr lang="en-US" sz="1000" dirty="0">
                <a:solidFill>
                  <a:srgbClr val="1A2535"/>
                </a:solidFill>
                <a:latin typeface="Consolas" pitchFamily="34" charset="0"/>
                <a:ea typeface="Consolas" pitchFamily="34" charset="-122"/>
                <a:cs typeface="Consolas" pitchFamily="34" charset="-120"/>
              </a:rPr>
              <a:t>PK  id</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FK  borne (CASCADE)</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date_debut</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duree_minutes</a:t>
            </a:r>
            <a:endParaRPr lang="en-US" sz="1000" dirty="0"/>
          </a:p>
          <a:p>
            <a:pPr marL="0" indent="0">
              <a:buNone/>
            </a:pPr>
            <a:r>
              <a:rPr lang="en-US" sz="1000" dirty="0">
                <a:solidFill>
                  <a:srgbClr val="1A2535"/>
                </a:solidFill>
                <a:latin typeface="Consolas" pitchFamily="34" charset="0"/>
                <a:ea typeface="Consolas" pitchFamily="34" charset="-122"/>
                <a:cs typeface="Consolas" pitchFamily="34" charset="-120"/>
              </a:rPr>
              <a:t>energie_kwh</a:t>
            </a:r>
            <a:endParaRPr lang="en-US" sz="1000" dirty="0"/>
          </a:p>
        </p:txBody>
      </p:sp>
      <p:sp>
        <p:nvSpPr>
          <p:cNvPr id="16" name="Shape 14"/>
          <p:cNvSpPr/>
          <p:nvPr/>
        </p:nvSpPr>
        <p:spPr>
          <a:xfrm>
            <a:off x="2834640" y="2697480"/>
            <a:ext cx="457200" cy="0"/>
          </a:xfrm>
          <a:prstGeom prst="line">
            <a:avLst/>
          </a:prstGeom>
          <a:noFill/>
          <a:ln w="25400">
            <a:solidFill>
              <a:srgbClr val="1565C0"/>
            </a:solidFill>
            <a:prstDash val="solid"/>
          </a:ln>
        </p:spPr>
        <p:txBody>
          <a:bodyPr/>
          <a:lstStyle/>
          <a:p>
            <a:endParaRPr lang="fr-FR"/>
          </a:p>
        </p:txBody>
      </p:sp>
      <p:sp>
        <p:nvSpPr>
          <p:cNvPr id="17" name="Text 15"/>
          <p:cNvSpPr/>
          <p:nvPr/>
        </p:nvSpPr>
        <p:spPr>
          <a:xfrm>
            <a:off x="2651760" y="2834640"/>
            <a:ext cx="640080" cy="228600"/>
          </a:xfrm>
          <a:prstGeom prst="rect">
            <a:avLst/>
          </a:prstGeom>
          <a:noFill/>
          <a:ln/>
        </p:spPr>
        <p:txBody>
          <a:bodyPr wrap="square" rtlCol="0" anchor="ctr"/>
          <a:lstStyle/>
          <a:p>
            <a:pPr marL="0" indent="0" algn="ctr">
              <a:buNone/>
            </a:pPr>
            <a:r>
              <a:rPr lang="en-US" sz="800" dirty="0">
                <a:solidFill>
                  <a:srgbClr val="1565C0"/>
                </a:solidFill>
                <a:latin typeface="Calibri" pitchFamily="34" charset="0"/>
                <a:ea typeface="Calibri" pitchFamily="34" charset="-122"/>
                <a:cs typeface="Calibri" pitchFamily="34" charset="-120"/>
              </a:rPr>
              <a:t>PROTECT</a:t>
            </a:r>
            <a:endParaRPr lang="en-US" sz="800" dirty="0"/>
          </a:p>
        </p:txBody>
      </p:sp>
      <p:sp>
        <p:nvSpPr>
          <p:cNvPr id="18" name="Shape 16"/>
          <p:cNvSpPr/>
          <p:nvPr/>
        </p:nvSpPr>
        <p:spPr>
          <a:xfrm>
            <a:off x="6217920" y="2697480"/>
            <a:ext cx="365760" cy="0"/>
          </a:xfrm>
          <a:prstGeom prst="line">
            <a:avLst/>
          </a:prstGeom>
          <a:noFill/>
          <a:ln w="25400">
            <a:solidFill>
              <a:srgbClr val="27AE60"/>
            </a:solidFill>
            <a:prstDash val="solid"/>
          </a:ln>
        </p:spPr>
        <p:txBody>
          <a:bodyPr/>
          <a:lstStyle/>
          <a:p>
            <a:endParaRPr lang="fr-FR"/>
          </a:p>
        </p:txBody>
      </p:sp>
      <p:sp>
        <p:nvSpPr>
          <p:cNvPr id="19" name="Text 17"/>
          <p:cNvSpPr/>
          <p:nvPr/>
        </p:nvSpPr>
        <p:spPr>
          <a:xfrm>
            <a:off x="6080760" y="2834640"/>
            <a:ext cx="731520" cy="228600"/>
          </a:xfrm>
          <a:prstGeom prst="rect">
            <a:avLst/>
          </a:prstGeom>
          <a:noFill/>
          <a:ln/>
        </p:spPr>
        <p:txBody>
          <a:bodyPr wrap="square" rtlCol="0" anchor="ctr"/>
          <a:lstStyle/>
          <a:p>
            <a:pPr marL="0" indent="0" algn="ctr">
              <a:buNone/>
            </a:pPr>
            <a:r>
              <a:rPr lang="en-US" sz="800" dirty="0">
                <a:solidFill>
                  <a:srgbClr val="27AE60"/>
                </a:solidFill>
                <a:latin typeface="Calibri" pitchFamily="34" charset="0"/>
                <a:ea typeface="Calibri" pitchFamily="34" charset="-122"/>
                <a:cs typeface="Calibri" pitchFamily="34" charset="-120"/>
              </a:rPr>
              <a:t>CASCADE</a:t>
            </a:r>
            <a:endParaRPr lang="en-US" sz="800" dirty="0"/>
          </a:p>
        </p:txBody>
      </p:sp>
      <p:sp>
        <p:nvSpPr>
          <p:cNvPr id="20" name="Shape 18"/>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21" name="Text 19"/>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Modèle de Données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943600" y="-182880"/>
            <a:ext cx="3200400" cy="4572000"/>
          </a:xfrm>
          <a:prstGeom prst="rect">
            <a:avLst/>
          </a:prstGeom>
          <a:noFill/>
          <a:ln/>
        </p:spPr>
        <p:txBody>
          <a:bodyPr wrap="square" rtlCol="0" anchor="ctr"/>
          <a:lstStyle/>
          <a:p>
            <a:pPr marL="0" indent="0" algn="r">
              <a:buNone/>
            </a:pPr>
            <a:r>
              <a:rPr lang="en-US" sz="20000" b="1" dirty="0">
                <a:solidFill>
                  <a:srgbClr val="FFFFFF">
                    <a:alpha val="6000"/>
                  </a:srgbClr>
                </a:solidFill>
              </a:rPr>
              <a:t>04</a:t>
            </a:r>
            <a:endParaRPr lang="en-US" sz="20000" dirty="0"/>
          </a:p>
        </p:txBody>
      </p:sp>
      <p:sp>
        <p:nvSpPr>
          <p:cNvPr id="3" name="Shape 1"/>
          <p:cNvSpPr/>
          <p:nvPr/>
        </p:nvSpPr>
        <p:spPr>
          <a:xfrm>
            <a:off x="502920" y="1737360"/>
            <a:ext cx="73152" cy="1645920"/>
          </a:xfrm>
          <a:prstGeom prst="rect">
            <a:avLst/>
          </a:prstGeom>
          <a:solidFill>
            <a:srgbClr val="1E88E5"/>
          </a:solidFill>
          <a:ln w="12700">
            <a:solidFill>
              <a:srgbClr val="1E88E5"/>
            </a:solidFill>
            <a:prstDash val="solid"/>
          </a:ln>
        </p:spPr>
        <p:txBody>
          <a:bodyPr/>
          <a:lstStyle/>
          <a:p>
            <a:endParaRPr lang="fr-FR"/>
          </a:p>
        </p:txBody>
      </p:sp>
      <p:sp>
        <p:nvSpPr>
          <p:cNvPr id="4" name="Text 2"/>
          <p:cNvSpPr/>
          <p:nvPr/>
        </p:nvSpPr>
        <p:spPr>
          <a:xfrm>
            <a:off x="685800" y="173736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Démonstration</a:t>
            </a:r>
            <a:endParaRPr lang="en-US" sz="4000" dirty="0"/>
          </a:p>
        </p:txBody>
      </p:sp>
      <p:sp>
        <p:nvSpPr>
          <p:cNvPr id="5" name="Text 3"/>
          <p:cNvSpPr/>
          <p:nvPr/>
        </p:nvSpPr>
        <p:spPr>
          <a:xfrm>
            <a:off x="685800" y="2697480"/>
            <a:ext cx="7772400" cy="731520"/>
          </a:xfrm>
          <a:prstGeom prst="rect">
            <a:avLst/>
          </a:prstGeom>
          <a:noFill/>
          <a:ln/>
        </p:spPr>
        <p:txBody>
          <a:bodyPr wrap="square" lIns="0" tIns="0" rIns="0" bIns="0" rtlCol="0" anchor="ctr"/>
          <a:lstStyle/>
          <a:p>
            <a:pPr marL="0" indent="0">
              <a:buNone/>
            </a:pPr>
            <a:r>
              <a:rPr lang="en-US" sz="1800" dirty="0">
                <a:solidFill>
                  <a:srgbClr val="90A4AE"/>
                </a:solidFill>
                <a:latin typeface="Calibri" pitchFamily="34" charset="0"/>
                <a:ea typeface="Calibri" pitchFamily="34" charset="-122"/>
                <a:cs typeface="Calibri" pitchFamily="34" charset="-120"/>
              </a:rPr>
              <a:t>Présentation des écrans et fonctionnalités de l'application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Page de Connexion</a:t>
            </a:r>
            <a:endParaRPr lang="en-US" sz="2000" dirty="0"/>
          </a:p>
        </p:txBody>
      </p:sp>
      <p:sp>
        <p:nvSpPr>
          <p:cNvPr id="4" name="Shape 2"/>
          <p:cNvSpPr/>
          <p:nvPr/>
        </p:nvSpPr>
        <p:spPr>
          <a:xfrm>
            <a:off x="7223760" y="164592"/>
            <a:ext cx="1645920" cy="438912"/>
          </a:xfrm>
          <a:prstGeom prst="roundRect">
            <a:avLst>
              <a:gd name="adj" fmla="val 12500"/>
            </a:avLst>
          </a:prstGeom>
          <a:solidFill>
            <a:srgbClr val="90A4AE"/>
          </a:solidFill>
          <a:ln w="12700">
            <a:solidFill>
              <a:srgbClr val="90A4AE"/>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Tous les profils</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01_login.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Point d'entrée unique de l'application. Le formulaire de connexion Django vérifie les identifiants et redirige l'utilisateur vers la vue adaptée à son profil (administrateur ou technicien). Un message de déconnexion s'affiche lors d'une session terminée.</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/bornes/login/</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Liste des Bornes — Profil Technicien</a:t>
            </a:r>
            <a:endParaRPr lang="en-US" sz="2000" dirty="0"/>
          </a:p>
        </p:txBody>
      </p:sp>
      <p:sp>
        <p:nvSpPr>
          <p:cNvPr id="4" name="Shape 2"/>
          <p:cNvSpPr/>
          <p:nvPr/>
        </p:nvSpPr>
        <p:spPr>
          <a:xfrm>
            <a:off x="7223760" y="164592"/>
            <a:ext cx="1645920" cy="438912"/>
          </a:xfrm>
          <a:prstGeom prst="roundRect">
            <a:avLst>
              <a:gd name="adj" fmla="val 12500"/>
            </a:avLst>
          </a:prstGeom>
          <a:solidFill>
            <a:srgbClr val="00897B"/>
          </a:solidFill>
          <a:ln w="12700">
            <a:solidFill>
              <a:srgbClr val="00897B"/>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Technicien</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Le technicien ne voit que les bornes dont le statut est « Maintenance ». Les badges colorés (Libre / Occupée / Maintenance) permettent une identification visuelle rapide. Les filtres par ville, statut et connecteur sont disponibles.</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 — filtre statut=maintenance</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pic>
        <p:nvPicPr>
          <p:cNvPr id="15" name="Image 14" descr="Une image contenant texte, capture d’écran, logiciel, Icône d’ordinateur&#10;&#10;Le contenu généré par l’IA peut être incorrect.">
            <a:extLst>
              <a:ext uri="{FF2B5EF4-FFF2-40B4-BE49-F238E27FC236}">
                <a16:creationId xmlns:a16="http://schemas.microsoft.com/office/drawing/2014/main" id="{6AAF3B2B-3EC9-F894-99A1-6927E1D49F3B}"/>
              </a:ext>
            </a:extLst>
          </p:cNvPr>
          <p:cNvPicPr>
            <a:picLocks noChangeAspect="1"/>
          </p:cNvPicPr>
          <p:nvPr/>
        </p:nvPicPr>
        <p:blipFill>
          <a:blip r:embed="rId3"/>
          <a:stretch>
            <a:fillRect/>
          </a:stretch>
        </p:blipFill>
        <p:spPr>
          <a:xfrm>
            <a:off x="228599" y="868680"/>
            <a:ext cx="5303519" cy="3291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Types de Connecteurs</a:t>
            </a:r>
            <a:endParaRPr lang="en-US" sz="2000" dirty="0"/>
          </a:p>
        </p:txBody>
      </p:sp>
      <p:sp>
        <p:nvSpPr>
          <p:cNvPr id="4" name="Shape 2"/>
          <p:cNvSpPr/>
          <p:nvPr/>
        </p:nvSpPr>
        <p:spPr>
          <a:xfrm>
            <a:off x="7223760" y="164592"/>
            <a:ext cx="1645920" cy="438912"/>
          </a:xfrm>
          <a:prstGeom prst="roundRect">
            <a:avLst>
              <a:gd name="adj" fmla="val 12500"/>
            </a:avLst>
          </a:prstGeom>
          <a:solidFill>
            <a:srgbClr val="1565C0"/>
          </a:solidFill>
          <a:ln w="12700">
            <a:solidFill>
              <a:srgbClr val="1565C0"/>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Tous les profils</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04_connecteurs.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Vue des types de connecteurs disponibles (CCS, CHAdeMO, Type 2). Chaque carte affiche la vitesse de charge (Rapide / Standard) et le nombre de bornes associées. Un lien direct permet de filtrer les bornes par connecteur.</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/bornes/connecteurs/</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Sessions de Charge — Tableau de Bord</a:t>
            </a:r>
            <a:endParaRPr lang="en-US" sz="2000" dirty="0"/>
          </a:p>
        </p:txBody>
      </p:sp>
      <p:sp>
        <p:nvSpPr>
          <p:cNvPr id="4" name="Shape 2"/>
          <p:cNvSpPr/>
          <p:nvPr/>
        </p:nvSpPr>
        <p:spPr>
          <a:xfrm>
            <a:off x="7223760" y="164592"/>
            <a:ext cx="1645920" cy="438912"/>
          </a:xfrm>
          <a:prstGeom prst="roundRect">
            <a:avLst>
              <a:gd name="adj" fmla="val 12500"/>
            </a:avLst>
          </a:prstGeom>
          <a:solidFill>
            <a:srgbClr val="1565C0"/>
          </a:solidFill>
          <a:ln w="12700">
            <a:solidFill>
              <a:srgbClr val="1565C0"/>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Tous les profils</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05_sessions_vide.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Récapitulatif en temps réel : sessions totales, énergie consommée (kWh) et durée moyenne. Les filtres permettent de filtrer par borne et par date. Les administrateurs disposent en plus des boutons Ajouter / Modifier / Supprimer.</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/bornes/sessions/</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Détail d'une Borne</a:t>
            </a:r>
            <a:endParaRPr lang="en-US" sz="2000" dirty="0"/>
          </a:p>
        </p:txBody>
      </p:sp>
      <p:sp>
        <p:nvSpPr>
          <p:cNvPr id="4" name="Shape 2"/>
          <p:cNvSpPr/>
          <p:nvPr/>
        </p:nvSpPr>
        <p:spPr>
          <a:xfrm>
            <a:off x="7223760" y="164592"/>
            <a:ext cx="1645920" cy="438912"/>
          </a:xfrm>
          <a:prstGeom prst="roundRect">
            <a:avLst>
              <a:gd name="adj" fmla="val 12500"/>
            </a:avLst>
          </a:prstGeom>
          <a:solidFill>
            <a:srgbClr val="00897B"/>
          </a:solidFill>
          <a:ln w="12700">
            <a:solidFill>
              <a:srgbClr val="00897B"/>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Technicien + Admin</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06_detail_borne.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Page détail avec deux zones distinctes : informations générales (ville, emplacement, connecteur, puissance, statut) et statistiques (sessions totales, puissance maximale). Le technicien peut modifier le statut directement depuis cette page.</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/bornes/borne/&lt;id&gt;/</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Liste des Bornes — Profil Administrateur</a:t>
            </a:r>
            <a:endParaRPr lang="en-US" sz="2000" dirty="0"/>
          </a:p>
        </p:txBody>
      </p:sp>
      <p:sp>
        <p:nvSpPr>
          <p:cNvPr id="4" name="Shape 2"/>
          <p:cNvSpPr/>
          <p:nvPr/>
        </p:nvSpPr>
        <p:spPr>
          <a:xfrm>
            <a:off x="7223760" y="164592"/>
            <a:ext cx="1645920" cy="438912"/>
          </a:xfrm>
          <a:prstGeom prst="roundRect">
            <a:avLst>
              <a:gd name="adj" fmla="val 12500"/>
            </a:avLst>
          </a:prstGeom>
          <a:solidFill>
            <a:srgbClr val="1565C0"/>
          </a:solidFill>
          <a:ln w="12700">
            <a:solidFill>
              <a:srgbClr val="1565C0"/>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Administrateur</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08_admin_bornes.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L'administrateur voit toutes les bornes du réseau. La navbar affiche le lien Admin (interface Django). La différence de vue vs technicien est visible : ici toutes les bornes sont accessibles, pas seulement celles en maintenance.</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 — vue admin complète</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Ajouter une Session de Charge</a:t>
            </a:r>
            <a:endParaRPr lang="en-US" sz="2000" dirty="0"/>
          </a:p>
        </p:txBody>
      </p:sp>
      <p:sp>
        <p:nvSpPr>
          <p:cNvPr id="4" name="Shape 2"/>
          <p:cNvSpPr/>
          <p:nvPr/>
        </p:nvSpPr>
        <p:spPr>
          <a:xfrm>
            <a:off x="7223760" y="164592"/>
            <a:ext cx="1645920" cy="438912"/>
          </a:xfrm>
          <a:prstGeom prst="roundRect">
            <a:avLst>
              <a:gd name="adj" fmla="val 12500"/>
            </a:avLst>
          </a:prstGeom>
          <a:solidFill>
            <a:srgbClr val="E74C3C"/>
          </a:solidFill>
          <a:ln w="12700">
            <a:solidFill>
              <a:srgbClr val="E74C3C"/>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Administrateur uniquement</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09_ajouter_session.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Formulaire de création de session réservé à l'administrateur. Le widget datetime-local facilite la saisie de la date et heure. Les champs borne, durée et énergie sont requis. Le calcul du coût estimé (0,20 €/kWh) est automatique.</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/bornes/sessions/ajouter/</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Sessions — Vue Administrateur avec CRUD</a:t>
            </a:r>
            <a:endParaRPr lang="en-US" sz="2000" dirty="0"/>
          </a:p>
        </p:txBody>
      </p:sp>
      <p:sp>
        <p:nvSpPr>
          <p:cNvPr id="4" name="Shape 2"/>
          <p:cNvSpPr/>
          <p:nvPr/>
        </p:nvSpPr>
        <p:spPr>
          <a:xfrm>
            <a:off x="7223760" y="164592"/>
            <a:ext cx="1645920" cy="438912"/>
          </a:xfrm>
          <a:prstGeom prst="roundRect">
            <a:avLst>
              <a:gd name="adj" fmla="val 12500"/>
            </a:avLst>
          </a:prstGeom>
          <a:solidFill>
            <a:srgbClr val="E74C3C"/>
          </a:solidFill>
          <a:ln w="12700">
            <a:solidFill>
              <a:srgbClr val="E74C3C"/>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Administrateur uniquement</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10_sessions_admin.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La vue sessions de l'administrateur affiche les boutons Modifier (orange) et Supprimer (rouge) en plus du tableau de bord. Le coût estimé est calculé automatiquement (ici 130 kWh × 0,20 € = 26 €). La durée est formatée en heures (2h00).</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/bornes/sessions/ — avec boutons CRUD</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Confirmation de Suppression</a:t>
            </a:r>
            <a:endParaRPr lang="en-US" sz="2000" dirty="0"/>
          </a:p>
        </p:txBody>
      </p:sp>
      <p:sp>
        <p:nvSpPr>
          <p:cNvPr id="4" name="Shape 2"/>
          <p:cNvSpPr/>
          <p:nvPr/>
        </p:nvSpPr>
        <p:spPr>
          <a:xfrm>
            <a:off x="7223760" y="164592"/>
            <a:ext cx="1645920" cy="438912"/>
          </a:xfrm>
          <a:prstGeom prst="roundRect">
            <a:avLst>
              <a:gd name="adj" fmla="val 12500"/>
            </a:avLst>
          </a:prstGeom>
          <a:solidFill>
            <a:srgbClr val="E74C3C"/>
          </a:solidFill>
          <a:ln w="12700">
            <a:solidFill>
              <a:srgbClr val="E74C3C"/>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Administrateur uniquement</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11_supprimer_session.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Modale de confirmation avant suppression d'une session. Django génère automatiquement cette page de confirmation (DeleteView). Elle affiche la date de session et la borne concernée. Action irréversible protégée par double confirmation.</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/bornes/sessions/&lt;id&gt;/supprimer/</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txBody>
          <a:bodyPr/>
          <a:lstStyle/>
          <a:p>
            <a:endParaRPr lang="fr-FR"/>
          </a:p>
        </p:txBody>
      </p:sp>
      <p:sp>
        <p:nvSpPr>
          <p:cNvPr id="3" name="Text 1"/>
          <p:cNvSpPr/>
          <p:nvPr/>
        </p:nvSpPr>
        <p:spPr>
          <a:xfrm>
            <a:off x="320040" y="0"/>
            <a:ext cx="685800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Modification d'une Session</a:t>
            </a:r>
            <a:endParaRPr lang="en-US" sz="2000" dirty="0"/>
          </a:p>
        </p:txBody>
      </p:sp>
      <p:sp>
        <p:nvSpPr>
          <p:cNvPr id="4" name="Shape 2"/>
          <p:cNvSpPr/>
          <p:nvPr/>
        </p:nvSpPr>
        <p:spPr>
          <a:xfrm>
            <a:off x="7223760" y="164592"/>
            <a:ext cx="1645920" cy="438912"/>
          </a:xfrm>
          <a:prstGeom prst="roundRect">
            <a:avLst>
              <a:gd name="adj" fmla="val 12500"/>
            </a:avLst>
          </a:prstGeom>
          <a:solidFill>
            <a:srgbClr val="E74C3C"/>
          </a:solidFill>
          <a:ln w="12700">
            <a:solidFill>
              <a:srgbClr val="E74C3C"/>
            </a:solidFill>
            <a:prstDash val="solid"/>
          </a:ln>
        </p:spPr>
        <p:txBody>
          <a:bodyPr/>
          <a:lstStyle/>
          <a:p>
            <a:endParaRPr lang="fr-FR"/>
          </a:p>
        </p:txBody>
      </p:sp>
      <p:sp>
        <p:nvSpPr>
          <p:cNvPr id="5" name="Text 3"/>
          <p:cNvSpPr/>
          <p:nvPr/>
        </p:nvSpPr>
        <p:spPr>
          <a:xfrm>
            <a:off x="7223760" y="164592"/>
            <a:ext cx="164592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Administrateur uniquement</a:t>
            </a:r>
            <a:endParaRPr lang="en-US" sz="900" dirty="0"/>
          </a:p>
        </p:txBody>
      </p:sp>
      <p:sp>
        <p:nvSpPr>
          <p:cNvPr id="6" name="Shape 4"/>
          <p:cNvSpPr/>
          <p:nvPr/>
        </p:nvSpPr>
        <p:spPr>
          <a:xfrm>
            <a:off x="228600" y="868680"/>
            <a:ext cx="5303520" cy="3291840"/>
          </a:xfrm>
          <a:prstGeom prst="rect">
            <a:avLst/>
          </a:prstGeom>
          <a:solidFill>
            <a:srgbClr val="E0E6EF"/>
          </a:solidFill>
          <a:ln w="1270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pic>
        <p:nvPicPr>
          <p:cNvPr id="7" name="Image 0" descr="/home/claude/sc12_modifier_session.png"/>
          <p:cNvPicPr>
            <a:picLocks noChangeAspect="1"/>
          </p:cNvPicPr>
          <p:nvPr/>
        </p:nvPicPr>
        <p:blipFill>
          <a:blip r:embed="rId3"/>
          <a:srcRect/>
          <a:stretch/>
        </p:blipFill>
        <p:spPr>
          <a:xfrm>
            <a:off x="274320" y="914400"/>
            <a:ext cx="5212080" cy="3200400"/>
          </a:xfrm>
          <a:prstGeom prst="rect">
            <a:avLst/>
          </a:prstGeom>
        </p:spPr>
      </p:pic>
      <p:sp>
        <p:nvSpPr>
          <p:cNvPr id="8" name="Text 5"/>
          <p:cNvSpPr/>
          <p:nvPr/>
        </p:nvSpPr>
        <p:spPr>
          <a:xfrm>
            <a:off x="5760720" y="868680"/>
            <a:ext cx="3154680" cy="34747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Description</a:t>
            </a:r>
            <a:endParaRPr lang="en-US" sz="1200" dirty="0"/>
          </a:p>
        </p:txBody>
      </p:sp>
      <p:sp>
        <p:nvSpPr>
          <p:cNvPr id="9" name="Text 6"/>
          <p:cNvSpPr/>
          <p:nvPr/>
        </p:nvSpPr>
        <p:spPr>
          <a:xfrm>
            <a:off x="5760720" y="1234440"/>
            <a:ext cx="3154680" cy="2286000"/>
          </a:xfrm>
          <a:prstGeom prst="rect">
            <a:avLst/>
          </a:prstGeom>
          <a:noFill/>
          <a:ln/>
        </p:spPr>
        <p:txBody>
          <a:bodyPr wrap="square" lIns="0" tIns="0" rIns="0" bIns="0" rtlCol="0" anchor="ctr"/>
          <a:lstStyle/>
          <a:p>
            <a:pPr marL="0" indent="0">
              <a:buNone/>
            </a:pPr>
            <a:r>
              <a:rPr lang="en-US" sz="1150" dirty="0">
                <a:solidFill>
                  <a:srgbClr val="1A2535"/>
                </a:solidFill>
                <a:latin typeface="Calibri" pitchFamily="34" charset="0"/>
                <a:ea typeface="Calibri" pitchFamily="34" charset="-122"/>
                <a:cs typeface="Calibri" pitchFamily="34" charset="-120"/>
              </a:rPr>
              <a:t>Formulaire de modification pré-rempli avec les données existantes. Le sélecteur de borne affiche l'état actuel [En maintenance]. Tous les champs sont éditables. L'enregistrement met à jour la session et recalcule le coût estimé.</a:t>
            </a:r>
            <a:endParaRPr lang="en-US" sz="1150" dirty="0"/>
          </a:p>
        </p:txBody>
      </p:sp>
      <p:sp>
        <p:nvSpPr>
          <p:cNvPr id="10" name="Shape 7"/>
          <p:cNvSpPr/>
          <p:nvPr/>
        </p:nvSpPr>
        <p:spPr>
          <a:xfrm>
            <a:off x="5760720" y="3611880"/>
            <a:ext cx="3154680" cy="502920"/>
          </a:xfrm>
          <a:prstGeom prst="rect">
            <a:avLst/>
          </a:prstGeom>
          <a:solidFill>
            <a:srgbClr val="F5F7FA"/>
          </a:solidFill>
          <a:ln w="6350">
            <a:solidFill>
              <a:srgbClr val="E0E6EF"/>
            </a:solidFill>
            <a:prstDash val="solid"/>
          </a:ln>
        </p:spPr>
        <p:txBody>
          <a:bodyPr/>
          <a:lstStyle/>
          <a:p>
            <a:endParaRPr lang="fr-FR"/>
          </a:p>
        </p:txBody>
      </p:sp>
      <p:sp>
        <p:nvSpPr>
          <p:cNvPr id="11" name="Text 8"/>
          <p:cNvSpPr/>
          <p:nvPr/>
        </p:nvSpPr>
        <p:spPr>
          <a:xfrm>
            <a:off x="5806440" y="3630168"/>
            <a:ext cx="3063240" cy="466344"/>
          </a:xfrm>
          <a:prstGeom prst="rect">
            <a:avLst/>
          </a:prstGeom>
          <a:noFill/>
          <a:ln/>
        </p:spPr>
        <p:txBody>
          <a:bodyPr wrap="square" lIns="0" tIns="0" rIns="0" bIns="0" rtlCol="0" anchor="ctr"/>
          <a:lstStyle/>
          <a:p>
            <a:pPr marL="0" indent="0">
              <a:buNone/>
            </a:pPr>
            <a:r>
              <a:rPr lang="en-US" sz="950" dirty="0">
                <a:solidFill>
                  <a:srgbClr val="1565C0"/>
                </a:solidFill>
                <a:latin typeface="Consolas" pitchFamily="34" charset="0"/>
                <a:ea typeface="Consolas" pitchFamily="34" charset="-122"/>
                <a:cs typeface="Consolas" pitchFamily="34" charset="-120"/>
              </a:rPr>
              <a:t>🔗  /bornes/sessions/&lt;id&gt;/modifier/</a:t>
            </a:r>
            <a:endParaRPr lang="en-US" sz="950" dirty="0"/>
          </a:p>
        </p:txBody>
      </p:sp>
      <p:sp>
        <p:nvSpPr>
          <p:cNvPr id="12" name="Shape 9"/>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13" name="Text 10"/>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Démonstration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943600" y="-182880"/>
            <a:ext cx="3200400" cy="4572000"/>
          </a:xfrm>
          <a:prstGeom prst="rect">
            <a:avLst/>
          </a:prstGeom>
          <a:noFill/>
          <a:ln/>
        </p:spPr>
        <p:txBody>
          <a:bodyPr wrap="square" rtlCol="0" anchor="ctr"/>
          <a:lstStyle/>
          <a:p>
            <a:pPr marL="0" indent="0" algn="r">
              <a:buNone/>
            </a:pPr>
            <a:r>
              <a:rPr lang="en-US" sz="20000" b="1" dirty="0">
                <a:solidFill>
                  <a:srgbClr val="FFFFFF">
                    <a:alpha val="6000"/>
                  </a:srgbClr>
                </a:solidFill>
              </a:rPr>
              <a:t>05</a:t>
            </a:r>
            <a:endParaRPr lang="en-US" sz="20000" dirty="0"/>
          </a:p>
        </p:txBody>
      </p:sp>
      <p:sp>
        <p:nvSpPr>
          <p:cNvPr id="3" name="Shape 1"/>
          <p:cNvSpPr/>
          <p:nvPr/>
        </p:nvSpPr>
        <p:spPr>
          <a:xfrm>
            <a:off x="502920" y="1737360"/>
            <a:ext cx="73152" cy="1645920"/>
          </a:xfrm>
          <a:prstGeom prst="rect">
            <a:avLst/>
          </a:prstGeom>
          <a:solidFill>
            <a:srgbClr val="1E88E5"/>
          </a:solidFill>
          <a:ln w="12700">
            <a:solidFill>
              <a:srgbClr val="1E88E5"/>
            </a:solidFill>
            <a:prstDash val="solid"/>
          </a:ln>
        </p:spPr>
        <p:txBody>
          <a:bodyPr/>
          <a:lstStyle/>
          <a:p>
            <a:endParaRPr lang="fr-FR"/>
          </a:p>
        </p:txBody>
      </p:sp>
      <p:sp>
        <p:nvSpPr>
          <p:cNvPr id="4" name="Text 2"/>
          <p:cNvSpPr/>
          <p:nvPr/>
        </p:nvSpPr>
        <p:spPr>
          <a:xfrm>
            <a:off x="685800" y="173736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Points Forts</a:t>
            </a:r>
            <a:endParaRPr lang="en-US" sz="4000" dirty="0"/>
          </a:p>
        </p:txBody>
      </p:sp>
      <p:sp>
        <p:nvSpPr>
          <p:cNvPr id="5" name="Text 3"/>
          <p:cNvSpPr/>
          <p:nvPr/>
        </p:nvSpPr>
        <p:spPr>
          <a:xfrm>
            <a:off x="685800" y="2697480"/>
            <a:ext cx="7772400" cy="731520"/>
          </a:xfrm>
          <a:prstGeom prst="rect">
            <a:avLst/>
          </a:prstGeom>
          <a:noFill/>
          <a:ln/>
        </p:spPr>
        <p:txBody>
          <a:bodyPr wrap="square" lIns="0" tIns="0" rIns="0" bIns="0" rtlCol="0" anchor="ctr"/>
          <a:lstStyle/>
          <a:p>
            <a:pPr marL="0" indent="0">
              <a:buNone/>
            </a:pPr>
            <a:r>
              <a:rPr lang="en-US" sz="1800" dirty="0">
                <a:solidFill>
                  <a:srgbClr val="90A4AE"/>
                </a:solidFill>
                <a:latin typeface="Calibri" pitchFamily="34" charset="0"/>
                <a:ea typeface="Calibri" pitchFamily="34" charset="-122"/>
                <a:cs typeface="Calibri" pitchFamily="34" charset="-120"/>
              </a:rPr>
              <a:t>Choix techniques, bonnes pratiques et qualité du code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fr-FR"/>
          </a:p>
        </p:txBody>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Points Forts du Projet</a:t>
            </a:r>
            <a:endParaRPr lang="en-US" sz="2600" dirty="0"/>
          </a:p>
        </p:txBody>
      </p:sp>
      <p:sp>
        <p:nvSpPr>
          <p:cNvPr id="4" name="Shape 2"/>
          <p:cNvSpPr/>
          <p:nvPr/>
        </p:nvSpPr>
        <p:spPr>
          <a:xfrm>
            <a:off x="228600" y="1024128"/>
            <a:ext cx="2743200" cy="16916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228600" y="1024128"/>
            <a:ext cx="54864" cy="1691640"/>
          </a:xfrm>
          <a:prstGeom prst="rect">
            <a:avLst/>
          </a:prstGeom>
          <a:solidFill>
            <a:srgbClr val="1565C0"/>
          </a:solidFill>
          <a:ln w="12700">
            <a:solidFill>
              <a:srgbClr val="1565C0"/>
            </a:solidFill>
            <a:prstDash val="solid"/>
          </a:ln>
        </p:spPr>
        <p:txBody>
          <a:bodyPr/>
          <a:lstStyle/>
          <a:p>
            <a:endParaRPr lang="fr-FR"/>
          </a:p>
        </p:txBody>
      </p:sp>
      <p:sp>
        <p:nvSpPr>
          <p:cNvPr id="6" name="Text 4"/>
          <p:cNvSpPr/>
          <p:nvPr/>
        </p:nvSpPr>
        <p:spPr>
          <a:xfrm>
            <a:off x="365760" y="1115568"/>
            <a:ext cx="2560320" cy="320040"/>
          </a:xfrm>
          <a:prstGeom prst="rect">
            <a:avLst/>
          </a:prstGeom>
          <a:noFill/>
          <a:ln/>
        </p:spPr>
        <p:txBody>
          <a:bodyPr wrap="square" lIns="0" tIns="0" rIns="0" bIns="0" rtlCol="0" anchor="ctr"/>
          <a:lstStyle/>
          <a:p>
            <a:pPr marL="0" indent="0">
              <a:buNone/>
            </a:pPr>
            <a:r>
              <a:rPr lang="en-US" sz="1300" b="1" dirty="0">
                <a:solidFill>
                  <a:srgbClr val="1A2535"/>
                </a:solidFill>
                <a:latin typeface="Calibri" pitchFamily="34" charset="0"/>
                <a:ea typeface="Calibri" pitchFamily="34" charset="-122"/>
                <a:cs typeface="Calibri" pitchFamily="34" charset="-120"/>
              </a:rPr>
              <a:t>Architecture MVC claire</a:t>
            </a:r>
            <a:endParaRPr lang="en-US" sz="1300" dirty="0"/>
          </a:p>
        </p:txBody>
      </p:sp>
      <p:sp>
        <p:nvSpPr>
          <p:cNvPr id="7" name="Text 5"/>
          <p:cNvSpPr/>
          <p:nvPr/>
        </p:nvSpPr>
        <p:spPr>
          <a:xfrm>
            <a:off x="365760" y="1444752"/>
            <a:ext cx="2560320" cy="1188720"/>
          </a:xfrm>
          <a:prstGeom prst="rect">
            <a:avLst/>
          </a:prstGeom>
          <a:noFill/>
          <a:ln/>
        </p:spPr>
        <p:txBody>
          <a:bodyPr wrap="square" lIns="0" tIns="0" rIns="0" bIns="0" rtlCol="0" anchor="ctr"/>
          <a:lstStyle/>
          <a:p>
            <a:pPr marL="0" indent="0">
              <a:buNone/>
            </a:pPr>
            <a:r>
              <a:rPr lang="en-US" sz="1100" dirty="0">
                <a:solidFill>
                  <a:srgbClr val="445566"/>
                </a:solidFill>
                <a:latin typeface="Calibri" pitchFamily="34" charset="0"/>
                <a:ea typeface="Calibri" pitchFamily="34" charset="-122"/>
                <a:cs typeface="Calibri" pitchFamily="34" charset="-120"/>
              </a:rPr>
              <a:t>Séparation stricte modèles / vues / templates. Chaque fichier a un rôle unique et précis.</a:t>
            </a:r>
            <a:endParaRPr lang="en-US" sz="1100" dirty="0"/>
          </a:p>
        </p:txBody>
      </p:sp>
      <p:sp>
        <p:nvSpPr>
          <p:cNvPr id="8" name="Shape 6"/>
          <p:cNvSpPr/>
          <p:nvPr/>
        </p:nvSpPr>
        <p:spPr>
          <a:xfrm>
            <a:off x="3172968" y="1024128"/>
            <a:ext cx="2743200" cy="16916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9" name="Shape 7"/>
          <p:cNvSpPr/>
          <p:nvPr/>
        </p:nvSpPr>
        <p:spPr>
          <a:xfrm>
            <a:off x="3172968" y="1024128"/>
            <a:ext cx="54864" cy="1691640"/>
          </a:xfrm>
          <a:prstGeom prst="rect">
            <a:avLst/>
          </a:prstGeom>
          <a:solidFill>
            <a:srgbClr val="E74C3C"/>
          </a:solidFill>
          <a:ln w="12700">
            <a:solidFill>
              <a:srgbClr val="E74C3C"/>
            </a:solidFill>
            <a:prstDash val="solid"/>
          </a:ln>
        </p:spPr>
        <p:txBody>
          <a:bodyPr/>
          <a:lstStyle/>
          <a:p>
            <a:endParaRPr lang="fr-FR"/>
          </a:p>
        </p:txBody>
      </p:sp>
      <p:sp>
        <p:nvSpPr>
          <p:cNvPr id="10" name="Text 8"/>
          <p:cNvSpPr/>
          <p:nvPr/>
        </p:nvSpPr>
        <p:spPr>
          <a:xfrm>
            <a:off x="3310128" y="1115568"/>
            <a:ext cx="2560320" cy="320040"/>
          </a:xfrm>
          <a:prstGeom prst="rect">
            <a:avLst/>
          </a:prstGeom>
          <a:noFill/>
          <a:ln/>
        </p:spPr>
        <p:txBody>
          <a:bodyPr wrap="square" lIns="0" tIns="0" rIns="0" bIns="0" rtlCol="0" anchor="ctr"/>
          <a:lstStyle/>
          <a:p>
            <a:pPr marL="0" indent="0">
              <a:buNone/>
            </a:pPr>
            <a:r>
              <a:rPr lang="en-US" sz="1300" b="1" dirty="0">
                <a:solidFill>
                  <a:srgbClr val="1A2535"/>
                </a:solidFill>
                <a:latin typeface="Calibri" pitchFamily="34" charset="0"/>
                <a:ea typeface="Calibri" pitchFamily="34" charset="-122"/>
                <a:cs typeface="Calibri" pitchFamily="34" charset="-120"/>
              </a:rPr>
              <a:t>Sécurité &amp; Rôles</a:t>
            </a:r>
            <a:endParaRPr lang="en-US" sz="1300" dirty="0"/>
          </a:p>
        </p:txBody>
      </p:sp>
      <p:sp>
        <p:nvSpPr>
          <p:cNvPr id="11" name="Text 9"/>
          <p:cNvSpPr/>
          <p:nvPr/>
        </p:nvSpPr>
        <p:spPr>
          <a:xfrm>
            <a:off x="3310128" y="1444752"/>
            <a:ext cx="2560320" cy="1188720"/>
          </a:xfrm>
          <a:prstGeom prst="rect">
            <a:avLst/>
          </a:prstGeom>
          <a:noFill/>
          <a:ln/>
        </p:spPr>
        <p:txBody>
          <a:bodyPr wrap="square" lIns="0" tIns="0" rIns="0" bIns="0" rtlCol="0" anchor="ctr"/>
          <a:lstStyle/>
          <a:p>
            <a:pPr marL="0" indent="0">
              <a:buNone/>
            </a:pPr>
            <a:r>
              <a:rPr lang="en-US" sz="1100" dirty="0">
                <a:solidFill>
                  <a:srgbClr val="445566"/>
                </a:solidFill>
                <a:latin typeface="Calibri" pitchFamily="34" charset="0"/>
                <a:ea typeface="Calibri" pitchFamily="34" charset="-122"/>
                <a:cs typeface="Calibri" pitchFamily="34" charset="-120"/>
              </a:rPr>
              <a:t>Accès contrôlé via is_superuser. Filtrage automatique des données selon le profil connecté.</a:t>
            </a:r>
            <a:endParaRPr lang="en-US" sz="1100" dirty="0"/>
          </a:p>
        </p:txBody>
      </p:sp>
      <p:sp>
        <p:nvSpPr>
          <p:cNvPr id="12" name="Shape 10"/>
          <p:cNvSpPr/>
          <p:nvPr/>
        </p:nvSpPr>
        <p:spPr>
          <a:xfrm>
            <a:off x="6117336" y="1024128"/>
            <a:ext cx="2743200" cy="16916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3" name="Shape 11"/>
          <p:cNvSpPr/>
          <p:nvPr/>
        </p:nvSpPr>
        <p:spPr>
          <a:xfrm>
            <a:off x="6117336" y="1024128"/>
            <a:ext cx="54864" cy="1691640"/>
          </a:xfrm>
          <a:prstGeom prst="rect">
            <a:avLst/>
          </a:prstGeom>
          <a:solidFill>
            <a:srgbClr val="00897B"/>
          </a:solidFill>
          <a:ln w="12700">
            <a:solidFill>
              <a:srgbClr val="00897B"/>
            </a:solidFill>
            <a:prstDash val="solid"/>
          </a:ln>
        </p:spPr>
        <p:txBody>
          <a:bodyPr/>
          <a:lstStyle/>
          <a:p>
            <a:endParaRPr lang="fr-FR"/>
          </a:p>
        </p:txBody>
      </p:sp>
      <p:sp>
        <p:nvSpPr>
          <p:cNvPr id="14" name="Text 12"/>
          <p:cNvSpPr/>
          <p:nvPr/>
        </p:nvSpPr>
        <p:spPr>
          <a:xfrm>
            <a:off x="6254496" y="1115568"/>
            <a:ext cx="2560320" cy="320040"/>
          </a:xfrm>
          <a:prstGeom prst="rect">
            <a:avLst/>
          </a:prstGeom>
          <a:noFill/>
          <a:ln/>
        </p:spPr>
        <p:txBody>
          <a:bodyPr wrap="square" lIns="0" tIns="0" rIns="0" bIns="0" rtlCol="0" anchor="ctr"/>
          <a:lstStyle/>
          <a:p>
            <a:pPr marL="0" indent="0">
              <a:buNone/>
            </a:pPr>
            <a:r>
              <a:rPr lang="en-US" sz="1300" b="1" dirty="0">
                <a:solidFill>
                  <a:srgbClr val="1A2535"/>
                </a:solidFill>
                <a:latin typeface="Calibri" pitchFamily="34" charset="0"/>
                <a:ea typeface="Calibri" pitchFamily="34" charset="-122"/>
                <a:cs typeface="Calibri" pitchFamily="34" charset="-120"/>
              </a:rPr>
              <a:t>Interface Responsive</a:t>
            </a:r>
            <a:endParaRPr lang="en-US" sz="1300" dirty="0"/>
          </a:p>
        </p:txBody>
      </p:sp>
      <p:sp>
        <p:nvSpPr>
          <p:cNvPr id="15" name="Text 13"/>
          <p:cNvSpPr/>
          <p:nvPr/>
        </p:nvSpPr>
        <p:spPr>
          <a:xfrm>
            <a:off x="6254496" y="1444752"/>
            <a:ext cx="2560320" cy="1188720"/>
          </a:xfrm>
          <a:prstGeom prst="rect">
            <a:avLst/>
          </a:prstGeom>
          <a:noFill/>
          <a:ln/>
        </p:spPr>
        <p:txBody>
          <a:bodyPr wrap="square" lIns="0" tIns="0" rIns="0" bIns="0" rtlCol="0" anchor="ctr"/>
          <a:lstStyle/>
          <a:p>
            <a:pPr marL="0" indent="0">
              <a:buNone/>
            </a:pPr>
            <a:r>
              <a:rPr lang="en-US" sz="1100" dirty="0">
                <a:solidFill>
                  <a:srgbClr val="445566"/>
                </a:solidFill>
                <a:latin typeface="Calibri" pitchFamily="34" charset="0"/>
                <a:ea typeface="Calibri" pitchFamily="34" charset="-122"/>
                <a:cs typeface="Calibri" pitchFamily="34" charset="-120"/>
              </a:rPr>
              <a:t>Bootstrap 5.3.2 : badges colorés, cartes, tableaux, pagination — expérience fluide sur tous les appareils.</a:t>
            </a:r>
            <a:endParaRPr lang="en-US" sz="1100" dirty="0"/>
          </a:p>
        </p:txBody>
      </p:sp>
      <p:sp>
        <p:nvSpPr>
          <p:cNvPr id="16" name="Shape 14"/>
          <p:cNvSpPr/>
          <p:nvPr/>
        </p:nvSpPr>
        <p:spPr>
          <a:xfrm>
            <a:off x="228600" y="2898648"/>
            <a:ext cx="2743200" cy="16916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5"/>
          <p:cNvSpPr/>
          <p:nvPr/>
        </p:nvSpPr>
        <p:spPr>
          <a:xfrm>
            <a:off x="228600" y="2898648"/>
            <a:ext cx="54864" cy="1691640"/>
          </a:xfrm>
          <a:prstGeom prst="rect">
            <a:avLst/>
          </a:prstGeom>
          <a:solidFill>
            <a:srgbClr val="F39C12"/>
          </a:solidFill>
          <a:ln w="12700">
            <a:solidFill>
              <a:srgbClr val="F39C12"/>
            </a:solidFill>
            <a:prstDash val="solid"/>
          </a:ln>
        </p:spPr>
        <p:txBody>
          <a:bodyPr/>
          <a:lstStyle/>
          <a:p>
            <a:endParaRPr lang="fr-FR"/>
          </a:p>
        </p:txBody>
      </p:sp>
      <p:sp>
        <p:nvSpPr>
          <p:cNvPr id="18" name="Text 16"/>
          <p:cNvSpPr/>
          <p:nvPr/>
        </p:nvSpPr>
        <p:spPr>
          <a:xfrm>
            <a:off x="365760" y="2990088"/>
            <a:ext cx="2560320" cy="320040"/>
          </a:xfrm>
          <a:prstGeom prst="rect">
            <a:avLst/>
          </a:prstGeom>
          <a:noFill/>
          <a:ln/>
        </p:spPr>
        <p:txBody>
          <a:bodyPr wrap="square" lIns="0" tIns="0" rIns="0" bIns="0" rtlCol="0" anchor="ctr"/>
          <a:lstStyle/>
          <a:p>
            <a:pPr marL="0" indent="0">
              <a:buNone/>
            </a:pPr>
            <a:r>
              <a:rPr lang="en-US" sz="1300" b="1" dirty="0">
                <a:solidFill>
                  <a:srgbClr val="1A2535"/>
                </a:solidFill>
                <a:latin typeface="Calibri" pitchFamily="34" charset="0"/>
                <a:ea typeface="Calibri" pitchFamily="34" charset="-122"/>
                <a:cs typeface="Calibri" pitchFamily="34" charset="-120"/>
              </a:rPr>
              <a:t>Calculs Intégrés</a:t>
            </a:r>
            <a:endParaRPr lang="en-US" sz="1300" dirty="0"/>
          </a:p>
        </p:txBody>
      </p:sp>
      <p:sp>
        <p:nvSpPr>
          <p:cNvPr id="19" name="Text 17"/>
          <p:cNvSpPr/>
          <p:nvPr/>
        </p:nvSpPr>
        <p:spPr>
          <a:xfrm>
            <a:off x="365760" y="3319272"/>
            <a:ext cx="2560320" cy="1188720"/>
          </a:xfrm>
          <a:prstGeom prst="rect">
            <a:avLst/>
          </a:prstGeom>
          <a:noFill/>
          <a:ln/>
        </p:spPr>
        <p:txBody>
          <a:bodyPr wrap="square" lIns="0" tIns="0" rIns="0" bIns="0" rtlCol="0" anchor="ctr"/>
          <a:lstStyle/>
          <a:p>
            <a:pPr marL="0" indent="0">
              <a:buNone/>
            </a:pPr>
            <a:r>
              <a:rPr lang="en-US" sz="1100" dirty="0">
                <a:solidFill>
                  <a:srgbClr val="445566"/>
                </a:solidFill>
                <a:latin typeface="Calibri" pitchFamily="34" charset="0"/>
                <a:ea typeface="Calibri" pitchFamily="34" charset="-122"/>
                <a:cs typeface="Calibri" pitchFamily="34" charset="-120"/>
              </a:rPr>
              <a:t>duree_formatee() et cout_estime() dans les modèles. La logique métier reste dans les modèles, pas dans les templates.</a:t>
            </a:r>
            <a:endParaRPr lang="en-US" sz="1100" dirty="0"/>
          </a:p>
        </p:txBody>
      </p:sp>
      <p:sp>
        <p:nvSpPr>
          <p:cNvPr id="20" name="Shape 18"/>
          <p:cNvSpPr/>
          <p:nvPr/>
        </p:nvSpPr>
        <p:spPr>
          <a:xfrm>
            <a:off x="3172968" y="2898648"/>
            <a:ext cx="2743200" cy="16916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1" name="Shape 19"/>
          <p:cNvSpPr/>
          <p:nvPr/>
        </p:nvSpPr>
        <p:spPr>
          <a:xfrm>
            <a:off x="3172968" y="2898648"/>
            <a:ext cx="54864" cy="1691640"/>
          </a:xfrm>
          <a:prstGeom prst="rect">
            <a:avLst/>
          </a:prstGeom>
          <a:solidFill>
            <a:srgbClr val="27AE60"/>
          </a:solidFill>
          <a:ln w="12700">
            <a:solidFill>
              <a:srgbClr val="27AE60"/>
            </a:solidFill>
            <a:prstDash val="solid"/>
          </a:ln>
        </p:spPr>
        <p:txBody>
          <a:bodyPr/>
          <a:lstStyle/>
          <a:p>
            <a:endParaRPr lang="fr-FR"/>
          </a:p>
        </p:txBody>
      </p:sp>
      <p:sp>
        <p:nvSpPr>
          <p:cNvPr id="22" name="Text 20"/>
          <p:cNvSpPr/>
          <p:nvPr/>
        </p:nvSpPr>
        <p:spPr>
          <a:xfrm>
            <a:off x="3310128" y="2990088"/>
            <a:ext cx="2560320" cy="320040"/>
          </a:xfrm>
          <a:prstGeom prst="rect">
            <a:avLst/>
          </a:prstGeom>
          <a:noFill/>
          <a:ln/>
        </p:spPr>
        <p:txBody>
          <a:bodyPr wrap="square" lIns="0" tIns="0" rIns="0" bIns="0" rtlCol="0" anchor="ctr"/>
          <a:lstStyle/>
          <a:p>
            <a:pPr marL="0" indent="0">
              <a:buNone/>
            </a:pPr>
            <a:r>
              <a:rPr lang="en-US" sz="1300" b="1" dirty="0">
                <a:solidFill>
                  <a:srgbClr val="1A2535"/>
                </a:solidFill>
                <a:latin typeface="Calibri" pitchFamily="34" charset="0"/>
                <a:ea typeface="Calibri" pitchFamily="34" charset="-122"/>
                <a:cs typeface="Calibri" pitchFamily="34" charset="-120"/>
              </a:rPr>
              <a:t>Intégrité Référentielle</a:t>
            </a:r>
            <a:endParaRPr lang="en-US" sz="1300" dirty="0"/>
          </a:p>
        </p:txBody>
      </p:sp>
      <p:sp>
        <p:nvSpPr>
          <p:cNvPr id="23" name="Text 21"/>
          <p:cNvSpPr/>
          <p:nvPr/>
        </p:nvSpPr>
        <p:spPr>
          <a:xfrm>
            <a:off x="3310128" y="3319272"/>
            <a:ext cx="2560320" cy="1188720"/>
          </a:xfrm>
          <a:prstGeom prst="rect">
            <a:avLst/>
          </a:prstGeom>
          <a:noFill/>
          <a:ln/>
        </p:spPr>
        <p:txBody>
          <a:bodyPr wrap="square" lIns="0" tIns="0" rIns="0" bIns="0" rtlCol="0" anchor="ctr"/>
          <a:lstStyle/>
          <a:p>
            <a:pPr marL="0" indent="0">
              <a:buNone/>
            </a:pPr>
            <a:r>
              <a:rPr lang="en-US" sz="1100" dirty="0">
                <a:solidFill>
                  <a:srgbClr val="445566"/>
                </a:solidFill>
                <a:latin typeface="Calibri" pitchFamily="34" charset="0"/>
                <a:ea typeface="Calibri" pitchFamily="34" charset="-122"/>
                <a:cs typeface="Calibri" pitchFamily="34" charset="-120"/>
              </a:rPr>
              <a:t>PROTECT empêche la suppression d'un connecteur utilisé. CASCADE synchronise les sessions lors de la suppression d'une borne.</a:t>
            </a:r>
            <a:endParaRPr lang="en-US" sz="1100" dirty="0"/>
          </a:p>
        </p:txBody>
      </p:sp>
      <p:sp>
        <p:nvSpPr>
          <p:cNvPr id="24" name="Shape 22"/>
          <p:cNvSpPr/>
          <p:nvPr/>
        </p:nvSpPr>
        <p:spPr>
          <a:xfrm>
            <a:off x="6117336" y="2898648"/>
            <a:ext cx="2743200" cy="1691640"/>
          </a:xfrm>
          <a:prstGeom prst="rect">
            <a:avLst/>
          </a:prstGeom>
          <a:solidFill>
            <a:srgbClr val="FFFFFF"/>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5" name="Shape 23"/>
          <p:cNvSpPr/>
          <p:nvPr/>
        </p:nvSpPr>
        <p:spPr>
          <a:xfrm>
            <a:off x="6117336" y="2898648"/>
            <a:ext cx="54864" cy="1691640"/>
          </a:xfrm>
          <a:prstGeom prst="rect">
            <a:avLst/>
          </a:prstGeom>
          <a:solidFill>
            <a:srgbClr val="0D1B2A"/>
          </a:solidFill>
          <a:ln w="12700">
            <a:solidFill>
              <a:srgbClr val="0D1B2A"/>
            </a:solidFill>
            <a:prstDash val="solid"/>
          </a:ln>
        </p:spPr>
        <p:txBody>
          <a:bodyPr/>
          <a:lstStyle/>
          <a:p>
            <a:endParaRPr lang="fr-FR"/>
          </a:p>
        </p:txBody>
      </p:sp>
      <p:sp>
        <p:nvSpPr>
          <p:cNvPr id="26" name="Text 24"/>
          <p:cNvSpPr/>
          <p:nvPr/>
        </p:nvSpPr>
        <p:spPr>
          <a:xfrm>
            <a:off x="6254496" y="2990088"/>
            <a:ext cx="2560320" cy="320040"/>
          </a:xfrm>
          <a:prstGeom prst="rect">
            <a:avLst/>
          </a:prstGeom>
          <a:noFill/>
          <a:ln/>
        </p:spPr>
        <p:txBody>
          <a:bodyPr wrap="square" lIns="0" tIns="0" rIns="0" bIns="0" rtlCol="0" anchor="ctr"/>
          <a:lstStyle/>
          <a:p>
            <a:pPr marL="0" indent="0">
              <a:buNone/>
            </a:pPr>
            <a:r>
              <a:rPr lang="en-US" sz="1300" b="1" dirty="0">
                <a:solidFill>
                  <a:srgbClr val="1A2535"/>
                </a:solidFill>
                <a:latin typeface="Calibri" pitchFamily="34" charset="0"/>
                <a:ea typeface="Calibri" pitchFamily="34" charset="-122"/>
                <a:cs typeface="Calibri" pitchFamily="34" charset="-120"/>
              </a:rPr>
              <a:t>Interface Admin Django</a:t>
            </a:r>
            <a:endParaRPr lang="en-US" sz="1300" dirty="0"/>
          </a:p>
        </p:txBody>
      </p:sp>
      <p:sp>
        <p:nvSpPr>
          <p:cNvPr id="27" name="Text 25"/>
          <p:cNvSpPr/>
          <p:nvPr/>
        </p:nvSpPr>
        <p:spPr>
          <a:xfrm>
            <a:off x="6254496" y="3319272"/>
            <a:ext cx="2560320" cy="1188720"/>
          </a:xfrm>
          <a:prstGeom prst="rect">
            <a:avLst/>
          </a:prstGeom>
          <a:noFill/>
          <a:ln/>
        </p:spPr>
        <p:txBody>
          <a:bodyPr wrap="square" lIns="0" tIns="0" rIns="0" bIns="0" rtlCol="0" anchor="ctr"/>
          <a:lstStyle/>
          <a:p>
            <a:pPr marL="0" indent="0">
              <a:buNone/>
            </a:pPr>
            <a:r>
              <a:rPr lang="en-US" sz="1100" dirty="0">
                <a:solidFill>
                  <a:srgbClr val="445566"/>
                </a:solidFill>
                <a:latin typeface="Calibri" pitchFamily="34" charset="0"/>
                <a:ea typeface="Calibri" pitchFamily="34" charset="-122"/>
                <a:cs typeface="Calibri" pitchFamily="34" charset="-120"/>
              </a:rPr>
              <a:t>Personnalisation poussée (list_filter, actions groupées, date_hierarchy) pour une gestion avancée sans code supplémentaire.</a:t>
            </a:r>
            <a:endParaRPr lang="en-US" sz="1100" dirty="0"/>
          </a:p>
        </p:txBody>
      </p:sp>
      <p:sp>
        <p:nvSpPr>
          <p:cNvPr id="28" name="Shape 26"/>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29" name="Text 27"/>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Points Forts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fr-FR"/>
          </a:p>
        </p:txBody>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Bilan des Fonctionnalités Réalisées</a:t>
            </a:r>
            <a:endParaRPr lang="en-US" sz="2600" dirty="0"/>
          </a:p>
        </p:txBody>
      </p:sp>
      <p:sp>
        <p:nvSpPr>
          <p:cNvPr id="4" name="Shape 2"/>
          <p:cNvSpPr/>
          <p:nvPr/>
        </p:nvSpPr>
        <p:spPr>
          <a:xfrm>
            <a:off x="365760" y="105156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365760" y="1051560"/>
            <a:ext cx="502920" cy="777240"/>
          </a:xfrm>
          <a:prstGeom prst="rect">
            <a:avLst/>
          </a:prstGeom>
          <a:solidFill>
            <a:srgbClr val="27AE60"/>
          </a:solidFill>
          <a:ln w="12700">
            <a:solidFill>
              <a:srgbClr val="27AE60"/>
            </a:solidFill>
            <a:prstDash val="solid"/>
          </a:ln>
        </p:spPr>
        <p:txBody>
          <a:bodyPr/>
          <a:lstStyle/>
          <a:p>
            <a:endParaRPr lang="fr-FR"/>
          </a:p>
        </p:txBody>
      </p:sp>
      <p:sp>
        <p:nvSpPr>
          <p:cNvPr id="6" name="Text 4"/>
          <p:cNvSpPr/>
          <p:nvPr/>
        </p:nvSpPr>
        <p:spPr>
          <a:xfrm>
            <a:off x="365760" y="105156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960120" y="105156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Authentification avec 2 rôles distincts</a:t>
            </a:r>
            <a:endParaRPr lang="en-US" sz="1200" dirty="0"/>
          </a:p>
        </p:txBody>
      </p:sp>
      <p:sp>
        <p:nvSpPr>
          <p:cNvPr id="8" name="Shape 6"/>
          <p:cNvSpPr/>
          <p:nvPr/>
        </p:nvSpPr>
        <p:spPr>
          <a:xfrm>
            <a:off x="365760" y="201168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9" name="Shape 7"/>
          <p:cNvSpPr/>
          <p:nvPr/>
        </p:nvSpPr>
        <p:spPr>
          <a:xfrm>
            <a:off x="365760" y="2011680"/>
            <a:ext cx="502920" cy="777240"/>
          </a:xfrm>
          <a:prstGeom prst="rect">
            <a:avLst/>
          </a:prstGeom>
          <a:solidFill>
            <a:srgbClr val="27AE60"/>
          </a:solidFill>
          <a:ln w="12700">
            <a:solidFill>
              <a:srgbClr val="27AE60"/>
            </a:solidFill>
            <a:prstDash val="solid"/>
          </a:ln>
        </p:spPr>
        <p:txBody>
          <a:bodyPr/>
          <a:lstStyle/>
          <a:p>
            <a:endParaRPr lang="fr-FR"/>
          </a:p>
        </p:txBody>
      </p:sp>
      <p:sp>
        <p:nvSpPr>
          <p:cNvPr id="10" name="Text 8"/>
          <p:cNvSpPr/>
          <p:nvPr/>
        </p:nvSpPr>
        <p:spPr>
          <a:xfrm>
            <a:off x="365760" y="201168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960120" y="201168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CRUD des bornes via l'interface admin Django</a:t>
            </a:r>
            <a:endParaRPr lang="en-US" sz="1200" dirty="0"/>
          </a:p>
        </p:txBody>
      </p:sp>
      <p:sp>
        <p:nvSpPr>
          <p:cNvPr id="12" name="Shape 10"/>
          <p:cNvSpPr/>
          <p:nvPr/>
        </p:nvSpPr>
        <p:spPr>
          <a:xfrm>
            <a:off x="365760" y="297180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3" name="Shape 11"/>
          <p:cNvSpPr/>
          <p:nvPr/>
        </p:nvSpPr>
        <p:spPr>
          <a:xfrm>
            <a:off x="365760" y="2971800"/>
            <a:ext cx="502920" cy="777240"/>
          </a:xfrm>
          <a:prstGeom prst="rect">
            <a:avLst/>
          </a:prstGeom>
          <a:solidFill>
            <a:srgbClr val="27AE60"/>
          </a:solidFill>
          <a:ln w="12700">
            <a:solidFill>
              <a:srgbClr val="27AE60"/>
            </a:solidFill>
            <a:prstDash val="solid"/>
          </a:ln>
        </p:spPr>
        <p:txBody>
          <a:bodyPr/>
          <a:lstStyle/>
          <a:p>
            <a:endParaRPr lang="fr-FR"/>
          </a:p>
        </p:txBody>
      </p:sp>
      <p:sp>
        <p:nvSpPr>
          <p:cNvPr id="14" name="Text 12"/>
          <p:cNvSpPr/>
          <p:nvPr/>
        </p:nvSpPr>
        <p:spPr>
          <a:xfrm>
            <a:off x="365760" y="297180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960120" y="297180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CRUD des sessions via l'interface web</a:t>
            </a:r>
            <a:endParaRPr lang="en-US" sz="1200" dirty="0"/>
          </a:p>
        </p:txBody>
      </p:sp>
      <p:sp>
        <p:nvSpPr>
          <p:cNvPr id="16" name="Shape 14"/>
          <p:cNvSpPr/>
          <p:nvPr/>
        </p:nvSpPr>
        <p:spPr>
          <a:xfrm>
            <a:off x="365760" y="393192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5"/>
          <p:cNvSpPr/>
          <p:nvPr/>
        </p:nvSpPr>
        <p:spPr>
          <a:xfrm>
            <a:off x="365760" y="3931920"/>
            <a:ext cx="502920" cy="777240"/>
          </a:xfrm>
          <a:prstGeom prst="rect">
            <a:avLst/>
          </a:prstGeom>
          <a:solidFill>
            <a:srgbClr val="27AE60"/>
          </a:solidFill>
          <a:ln w="12700">
            <a:solidFill>
              <a:srgbClr val="27AE60"/>
            </a:solidFill>
            <a:prstDash val="solid"/>
          </a:ln>
        </p:spPr>
        <p:txBody>
          <a:bodyPr/>
          <a:lstStyle/>
          <a:p>
            <a:endParaRPr lang="fr-FR"/>
          </a:p>
        </p:txBody>
      </p:sp>
      <p:sp>
        <p:nvSpPr>
          <p:cNvPr id="18" name="Text 16"/>
          <p:cNvSpPr/>
          <p:nvPr/>
        </p:nvSpPr>
        <p:spPr>
          <a:xfrm>
            <a:off x="365760" y="393192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960120" y="393192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Filtrage avancé (ville, statut, connecteur, puissance)</a:t>
            </a:r>
            <a:endParaRPr lang="en-US" sz="1200" dirty="0"/>
          </a:p>
        </p:txBody>
      </p:sp>
      <p:sp>
        <p:nvSpPr>
          <p:cNvPr id="20" name="Shape 18"/>
          <p:cNvSpPr/>
          <p:nvPr/>
        </p:nvSpPr>
        <p:spPr>
          <a:xfrm>
            <a:off x="4800600" y="105156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1" name="Shape 19"/>
          <p:cNvSpPr/>
          <p:nvPr/>
        </p:nvSpPr>
        <p:spPr>
          <a:xfrm>
            <a:off x="4800600" y="1051560"/>
            <a:ext cx="502920" cy="777240"/>
          </a:xfrm>
          <a:prstGeom prst="rect">
            <a:avLst/>
          </a:prstGeom>
          <a:solidFill>
            <a:srgbClr val="27AE60"/>
          </a:solidFill>
          <a:ln w="12700">
            <a:solidFill>
              <a:srgbClr val="27AE60"/>
            </a:solidFill>
            <a:prstDash val="solid"/>
          </a:ln>
        </p:spPr>
        <p:txBody>
          <a:bodyPr/>
          <a:lstStyle/>
          <a:p>
            <a:endParaRPr lang="fr-FR"/>
          </a:p>
        </p:txBody>
      </p:sp>
      <p:sp>
        <p:nvSpPr>
          <p:cNvPr id="22" name="Text 20"/>
          <p:cNvSpPr/>
          <p:nvPr/>
        </p:nvSpPr>
        <p:spPr>
          <a:xfrm>
            <a:off x="4800600" y="105156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5394960" y="105156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Pagination des listes de bornes et sessions</a:t>
            </a:r>
            <a:endParaRPr lang="en-US" sz="1200" dirty="0"/>
          </a:p>
        </p:txBody>
      </p:sp>
      <p:sp>
        <p:nvSpPr>
          <p:cNvPr id="24" name="Shape 22"/>
          <p:cNvSpPr/>
          <p:nvPr/>
        </p:nvSpPr>
        <p:spPr>
          <a:xfrm>
            <a:off x="4800600" y="201168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5" name="Shape 23"/>
          <p:cNvSpPr/>
          <p:nvPr/>
        </p:nvSpPr>
        <p:spPr>
          <a:xfrm>
            <a:off x="4800600" y="2011680"/>
            <a:ext cx="502920" cy="777240"/>
          </a:xfrm>
          <a:prstGeom prst="rect">
            <a:avLst/>
          </a:prstGeom>
          <a:solidFill>
            <a:srgbClr val="27AE60"/>
          </a:solidFill>
          <a:ln w="12700">
            <a:solidFill>
              <a:srgbClr val="27AE60"/>
            </a:solidFill>
            <a:prstDash val="solid"/>
          </a:ln>
        </p:spPr>
        <p:txBody>
          <a:bodyPr/>
          <a:lstStyle/>
          <a:p>
            <a:endParaRPr lang="fr-FR"/>
          </a:p>
        </p:txBody>
      </p:sp>
      <p:sp>
        <p:nvSpPr>
          <p:cNvPr id="26" name="Text 24"/>
          <p:cNvSpPr/>
          <p:nvPr/>
        </p:nvSpPr>
        <p:spPr>
          <a:xfrm>
            <a:off x="4800600" y="201168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5394960" y="201168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Restriction visuelle technicien (maintenance only)</a:t>
            </a:r>
            <a:endParaRPr lang="en-US" sz="1200" dirty="0"/>
          </a:p>
        </p:txBody>
      </p:sp>
      <p:sp>
        <p:nvSpPr>
          <p:cNvPr id="28" name="Shape 26"/>
          <p:cNvSpPr/>
          <p:nvPr/>
        </p:nvSpPr>
        <p:spPr>
          <a:xfrm>
            <a:off x="4800600" y="297180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9" name="Shape 27"/>
          <p:cNvSpPr/>
          <p:nvPr/>
        </p:nvSpPr>
        <p:spPr>
          <a:xfrm>
            <a:off x="4800600" y="2971800"/>
            <a:ext cx="502920" cy="777240"/>
          </a:xfrm>
          <a:prstGeom prst="rect">
            <a:avLst/>
          </a:prstGeom>
          <a:solidFill>
            <a:srgbClr val="27AE60"/>
          </a:solidFill>
          <a:ln w="12700">
            <a:solidFill>
              <a:srgbClr val="27AE60"/>
            </a:solidFill>
            <a:prstDash val="solid"/>
          </a:ln>
        </p:spPr>
        <p:txBody>
          <a:bodyPr/>
          <a:lstStyle/>
          <a:p>
            <a:endParaRPr lang="fr-FR"/>
          </a:p>
        </p:txBody>
      </p:sp>
      <p:sp>
        <p:nvSpPr>
          <p:cNvPr id="30" name="Text 28"/>
          <p:cNvSpPr/>
          <p:nvPr/>
        </p:nvSpPr>
        <p:spPr>
          <a:xfrm>
            <a:off x="4800600" y="297180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5394960" y="297180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Interface Bootstrap 5 responsive et accessible</a:t>
            </a:r>
            <a:endParaRPr lang="en-US" sz="1200" dirty="0"/>
          </a:p>
        </p:txBody>
      </p:sp>
      <p:sp>
        <p:nvSpPr>
          <p:cNvPr id="32" name="Shape 30"/>
          <p:cNvSpPr/>
          <p:nvPr/>
        </p:nvSpPr>
        <p:spPr>
          <a:xfrm>
            <a:off x="4800600" y="3931920"/>
            <a:ext cx="4160520" cy="7772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33" name="Shape 31"/>
          <p:cNvSpPr/>
          <p:nvPr/>
        </p:nvSpPr>
        <p:spPr>
          <a:xfrm>
            <a:off x="4800600" y="3931920"/>
            <a:ext cx="502920" cy="777240"/>
          </a:xfrm>
          <a:prstGeom prst="rect">
            <a:avLst/>
          </a:prstGeom>
          <a:solidFill>
            <a:srgbClr val="27AE60"/>
          </a:solidFill>
          <a:ln w="12700">
            <a:solidFill>
              <a:srgbClr val="27AE60"/>
            </a:solidFill>
            <a:prstDash val="solid"/>
          </a:ln>
        </p:spPr>
        <p:txBody>
          <a:bodyPr/>
          <a:lstStyle/>
          <a:p>
            <a:endParaRPr lang="fr-FR"/>
          </a:p>
        </p:txBody>
      </p:sp>
      <p:sp>
        <p:nvSpPr>
          <p:cNvPr id="34" name="Text 32"/>
          <p:cNvSpPr/>
          <p:nvPr/>
        </p:nvSpPr>
        <p:spPr>
          <a:xfrm>
            <a:off x="4800600" y="3931920"/>
            <a:ext cx="5029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5394960" y="3931920"/>
            <a:ext cx="3474720" cy="777240"/>
          </a:xfrm>
          <a:prstGeom prst="rect">
            <a:avLst/>
          </a:prstGeom>
          <a:noFill/>
          <a:ln/>
        </p:spPr>
        <p:txBody>
          <a:bodyPr wrap="square" rtlCol="0" anchor="ctr"/>
          <a:lstStyle/>
          <a:p>
            <a:pPr marL="0" indent="0">
              <a:buNone/>
            </a:pPr>
            <a:r>
              <a:rPr lang="en-US" sz="1200" dirty="0">
                <a:solidFill>
                  <a:srgbClr val="1A2535"/>
                </a:solidFill>
                <a:latin typeface="Calibri" pitchFamily="34" charset="0"/>
                <a:ea typeface="Calibri" pitchFamily="34" charset="-122"/>
                <a:cs typeface="Calibri" pitchFamily="34" charset="-120"/>
              </a:rPr>
              <a:t>Gestion des types de connecteurs (Type2, CCS, CHAdeMO)</a:t>
            </a:r>
            <a:endParaRPr lang="en-US" sz="1200" dirty="0"/>
          </a:p>
        </p:txBody>
      </p:sp>
      <p:sp>
        <p:nvSpPr>
          <p:cNvPr id="36" name="Shape 34"/>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37" name="Text 35"/>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Bilan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943600" y="-182880"/>
            <a:ext cx="3200400" cy="4572000"/>
          </a:xfrm>
          <a:prstGeom prst="rect">
            <a:avLst/>
          </a:prstGeom>
          <a:noFill/>
          <a:ln/>
        </p:spPr>
        <p:txBody>
          <a:bodyPr wrap="square" rtlCol="0" anchor="ctr"/>
          <a:lstStyle/>
          <a:p>
            <a:pPr marL="0" indent="0" algn="r">
              <a:buNone/>
            </a:pPr>
            <a:r>
              <a:rPr lang="en-US" sz="20000" b="1" dirty="0">
                <a:solidFill>
                  <a:srgbClr val="FFFFFF">
                    <a:alpha val="6000"/>
                  </a:srgbClr>
                </a:solidFill>
              </a:rPr>
              <a:t>06</a:t>
            </a:r>
            <a:endParaRPr lang="en-US" sz="20000" dirty="0"/>
          </a:p>
        </p:txBody>
      </p:sp>
      <p:sp>
        <p:nvSpPr>
          <p:cNvPr id="3" name="Shape 1"/>
          <p:cNvSpPr/>
          <p:nvPr/>
        </p:nvSpPr>
        <p:spPr>
          <a:xfrm>
            <a:off x="502920" y="1737360"/>
            <a:ext cx="73152" cy="1645920"/>
          </a:xfrm>
          <a:prstGeom prst="rect">
            <a:avLst/>
          </a:prstGeom>
          <a:solidFill>
            <a:srgbClr val="1E88E5"/>
          </a:solidFill>
          <a:ln w="12700">
            <a:solidFill>
              <a:srgbClr val="1E88E5"/>
            </a:solidFill>
            <a:prstDash val="solid"/>
          </a:ln>
        </p:spPr>
        <p:txBody>
          <a:bodyPr/>
          <a:lstStyle/>
          <a:p>
            <a:endParaRPr lang="fr-FR"/>
          </a:p>
        </p:txBody>
      </p:sp>
      <p:sp>
        <p:nvSpPr>
          <p:cNvPr id="4" name="Text 2"/>
          <p:cNvSpPr/>
          <p:nvPr/>
        </p:nvSpPr>
        <p:spPr>
          <a:xfrm>
            <a:off x="685800" y="173736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Conclusion &amp; Perspectives</a:t>
            </a:r>
            <a:endParaRPr lang="en-US" sz="4000" dirty="0"/>
          </a:p>
        </p:txBody>
      </p:sp>
      <p:sp>
        <p:nvSpPr>
          <p:cNvPr id="5" name="Text 3"/>
          <p:cNvSpPr/>
          <p:nvPr/>
        </p:nvSpPr>
        <p:spPr>
          <a:xfrm>
            <a:off x="685800" y="2697480"/>
            <a:ext cx="7772400" cy="731520"/>
          </a:xfrm>
          <a:prstGeom prst="rect">
            <a:avLst/>
          </a:prstGeom>
          <a:noFill/>
          <a:ln/>
        </p:spPr>
        <p:txBody>
          <a:bodyPr wrap="square" lIns="0" tIns="0" rIns="0" bIns="0" rtlCol="0" anchor="ctr"/>
          <a:lstStyle/>
          <a:p>
            <a:pPr marL="0" indent="0">
              <a:buNone/>
            </a:pPr>
            <a:r>
              <a:rPr lang="en-US" sz="1800" dirty="0">
                <a:solidFill>
                  <a:srgbClr val="90A4AE"/>
                </a:solidFill>
                <a:latin typeface="Calibri" pitchFamily="34" charset="0"/>
                <a:ea typeface="Calibri" pitchFamily="34" charset="-122"/>
                <a:cs typeface="Calibri" pitchFamily="34" charset="-120"/>
              </a:rPr>
              <a:t>Bilan final et axes d'amélioration envisagés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fr-FR"/>
          </a:p>
        </p:txBody>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Perspectives d'Évolution</a:t>
            </a:r>
            <a:endParaRPr lang="en-US" sz="2600" dirty="0"/>
          </a:p>
        </p:txBody>
      </p:sp>
      <p:sp>
        <p:nvSpPr>
          <p:cNvPr id="4" name="Shape 2"/>
          <p:cNvSpPr/>
          <p:nvPr/>
        </p:nvSpPr>
        <p:spPr>
          <a:xfrm>
            <a:off x="228600" y="1024128"/>
            <a:ext cx="2743200" cy="16916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228600" y="1024128"/>
            <a:ext cx="54864" cy="1691640"/>
          </a:xfrm>
          <a:prstGeom prst="rect">
            <a:avLst/>
          </a:prstGeom>
          <a:solidFill>
            <a:srgbClr val="1565C0"/>
          </a:solidFill>
          <a:ln w="12700">
            <a:solidFill>
              <a:srgbClr val="1565C0"/>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365760" y="1161288"/>
            <a:ext cx="365760" cy="365760"/>
          </a:xfrm>
          <a:prstGeom prst="rect">
            <a:avLst/>
          </a:prstGeom>
        </p:spPr>
      </p:pic>
      <p:sp>
        <p:nvSpPr>
          <p:cNvPr id="7" name="Text 4"/>
          <p:cNvSpPr/>
          <p:nvPr/>
        </p:nvSpPr>
        <p:spPr>
          <a:xfrm>
            <a:off x="822960" y="1115568"/>
            <a:ext cx="2057400" cy="411480"/>
          </a:xfrm>
          <a:prstGeom prst="rect">
            <a:avLst/>
          </a:prstGeom>
          <a:noFill/>
          <a:ln/>
        </p:spPr>
        <p:txBody>
          <a:bodyPr wrap="square" lIns="0" tIns="0" rIns="0" bIns="0" rtlCol="0" anchor="ctr"/>
          <a:lstStyle/>
          <a:p>
            <a:pPr marL="0" indent="0">
              <a:buNone/>
            </a:pPr>
            <a:r>
              <a:rPr lang="en-US" sz="1200" b="1" dirty="0">
                <a:solidFill>
                  <a:srgbClr val="1A2535"/>
                </a:solidFill>
                <a:latin typeface="Calibri" pitchFamily="34" charset="0"/>
                <a:ea typeface="Calibri" pitchFamily="34" charset="-122"/>
                <a:cs typeface="Calibri" pitchFamily="34" charset="-120"/>
              </a:rPr>
              <a:t>Migration PostgreSQL</a:t>
            </a:r>
            <a:endParaRPr lang="en-US" sz="1200" dirty="0"/>
          </a:p>
        </p:txBody>
      </p:sp>
      <p:sp>
        <p:nvSpPr>
          <p:cNvPr id="8" name="Text 5"/>
          <p:cNvSpPr/>
          <p:nvPr/>
        </p:nvSpPr>
        <p:spPr>
          <a:xfrm>
            <a:off x="365760" y="1618488"/>
            <a:ext cx="2523744" cy="96012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Passer de SQLite3 à PostgreSQL pour une meilleure scalabilité en production et des performances accrues.</a:t>
            </a:r>
            <a:endParaRPr lang="en-US" sz="1050" dirty="0"/>
          </a:p>
        </p:txBody>
      </p:sp>
      <p:sp>
        <p:nvSpPr>
          <p:cNvPr id="9" name="Shape 6"/>
          <p:cNvSpPr/>
          <p:nvPr/>
        </p:nvSpPr>
        <p:spPr>
          <a:xfrm>
            <a:off x="3172968" y="1024128"/>
            <a:ext cx="2743200" cy="16916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0" name="Shape 7"/>
          <p:cNvSpPr/>
          <p:nvPr/>
        </p:nvSpPr>
        <p:spPr>
          <a:xfrm>
            <a:off x="3172968" y="1024128"/>
            <a:ext cx="54864" cy="1691640"/>
          </a:xfrm>
          <a:prstGeom prst="rect">
            <a:avLst/>
          </a:prstGeom>
          <a:solidFill>
            <a:srgbClr val="00897B"/>
          </a:solidFill>
          <a:ln w="12700">
            <a:solidFill>
              <a:srgbClr val="00897B"/>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3310128" y="1161288"/>
            <a:ext cx="365760" cy="365760"/>
          </a:xfrm>
          <a:prstGeom prst="rect">
            <a:avLst/>
          </a:prstGeom>
        </p:spPr>
      </p:pic>
      <p:sp>
        <p:nvSpPr>
          <p:cNvPr id="12" name="Text 8"/>
          <p:cNvSpPr/>
          <p:nvPr/>
        </p:nvSpPr>
        <p:spPr>
          <a:xfrm>
            <a:off x="3767328" y="1115568"/>
            <a:ext cx="2057400" cy="411480"/>
          </a:xfrm>
          <a:prstGeom prst="rect">
            <a:avLst/>
          </a:prstGeom>
          <a:noFill/>
          <a:ln/>
        </p:spPr>
        <p:txBody>
          <a:bodyPr wrap="square" lIns="0" tIns="0" rIns="0" bIns="0" rtlCol="0" anchor="ctr"/>
          <a:lstStyle/>
          <a:p>
            <a:pPr marL="0" indent="0">
              <a:buNone/>
            </a:pPr>
            <a:r>
              <a:rPr lang="en-US" sz="1200" b="1" dirty="0">
                <a:solidFill>
                  <a:srgbClr val="1A2535"/>
                </a:solidFill>
                <a:latin typeface="Calibri" pitchFamily="34" charset="0"/>
                <a:ea typeface="Calibri" pitchFamily="34" charset="-122"/>
                <a:cs typeface="Calibri" pitchFamily="34" charset="-120"/>
              </a:rPr>
              <a:t>API REST (DRF)</a:t>
            </a:r>
            <a:endParaRPr lang="en-US" sz="1200" dirty="0"/>
          </a:p>
        </p:txBody>
      </p:sp>
      <p:sp>
        <p:nvSpPr>
          <p:cNvPr id="13" name="Text 9"/>
          <p:cNvSpPr/>
          <p:nvPr/>
        </p:nvSpPr>
        <p:spPr>
          <a:xfrm>
            <a:off x="3310128" y="1618488"/>
            <a:ext cx="2523744" cy="96012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Exposer les données via Django REST Framework pour alimenter des applications mobiles ou tierces.</a:t>
            </a:r>
            <a:endParaRPr lang="en-US" sz="1050" dirty="0"/>
          </a:p>
        </p:txBody>
      </p:sp>
      <p:sp>
        <p:nvSpPr>
          <p:cNvPr id="14" name="Shape 10"/>
          <p:cNvSpPr/>
          <p:nvPr/>
        </p:nvSpPr>
        <p:spPr>
          <a:xfrm>
            <a:off x="6117336" y="1024128"/>
            <a:ext cx="2743200" cy="16916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15" name="Shape 11"/>
          <p:cNvSpPr/>
          <p:nvPr/>
        </p:nvSpPr>
        <p:spPr>
          <a:xfrm>
            <a:off x="6117336" y="1024128"/>
            <a:ext cx="54864" cy="1691640"/>
          </a:xfrm>
          <a:prstGeom prst="rect">
            <a:avLst/>
          </a:prstGeom>
          <a:solidFill>
            <a:srgbClr val="F39C12"/>
          </a:solidFill>
          <a:ln w="12700">
            <a:solidFill>
              <a:srgbClr val="F39C12"/>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6254496" y="1161288"/>
            <a:ext cx="365760" cy="365760"/>
          </a:xfrm>
          <a:prstGeom prst="rect">
            <a:avLst/>
          </a:prstGeom>
        </p:spPr>
      </p:pic>
      <p:sp>
        <p:nvSpPr>
          <p:cNvPr id="17" name="Text 12"/>
          <p:cNvSpPr/>
          <p:nvPr/>
        </p:nvSpPr>
        <p:spPr>
          <a:xfrm>
            <a:off x="6711696" y="1115568"/>
            <a:ext cx="2057400" cy="411480"/>
          </a:xfrm>
          <a:prstGeom prst="rect">
            <a:avLst/>
          </a:prstGeom>
          <a:noFill/>
          <a:ln/>
        </p:spPr>
        <p:txBody>
          <a:bodyPr wrap="square" lIns="0" tIns="0" rIns="0" bIns="0" rtlCol="0" anchor="ctr"/>
          <a:lstStyle/>
          <a:p>
            <a:pPr marL="0" indent="0">
              <a:buNone/>
            </a:pPr>
            <a:r>
              <a:rPr lang="en-US" sz="1200" b="1" dirty="0">
                <a:solidFill>
                  <a:srgbClr val="1A2535"/>
                </a:solidFill>
                <a:latin typeface="Calibri" pitchFamily="34" charset="0"/>
                <a:ea typeface="Calibri" pitchFamily="34" charset="-122"/>
                <a:cs typeface="Calibri" pitchFamily="34" charset="-120"/>
              </a:rPr>
              <a:t>Tableau de Bord</a:t>
            </a:r>
            <a:endParaRPr lang="en-US" sz="1200" dirty="0"/>
          </a:p>
        </p:txBody>
      </p:sp>
      <p:sp>
        <p:nvSpPr>
          <p:cNvPr id="18" name="Text 13"/>
          <p:cNvSpPr/>
          <p:nvPr/>
        </p:nvSpPr>
        <p:spPr>
          <a:xfrm>
            <a:off x="6254496" y="1618488"/>
            <a:ext cx="2523744" cy="96012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Graphiques de consommation énergétique, taux d'occupation, historique par ville.</a:t>
            </a:r>
            <a:endParaRPr lang="en-US" sz="1050" dirty="0"/>
          </a:p>
        </p:txBody>
      </p:sp>
      <p:sp>
        <p:nvSpPr>
          <p:cNvPr id="19" name="Shape 14"/>
          <p:cNvSpPr/>
          <p:nvPr/>
        </p:nvSpPr>
        <p:spPr>
          <a:xfrm>
            <a:off x="228600" y="2898648"/>
            <a:ext cx="2743200" cy="16916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0" name="Shape 15"/>
          <p:cNvSpPr/>
          <p:nvPr/>
        </p:nvSpPr>
        <p:spPr>
          <a:xfrm>
            <a:off x="228600" y="2898648"/>
            <a:ext cx="54864" cy="1691640"/>
          </a:xfrm>
          <a:prstGeom prst="rect">
            <a:avLst/>
          </a:prstGeom>
          <a:solidFill>
            <a:srgbClr val="27AE60"/>
          </a:solidFill>
          <a:ln w="12700">
            <a:solidFill>
              <a:srgbClr val="27AE60"/>
            </a:solidFill>
            <a:prstDash val="solid"/>
          </a:ln>
        </p:spPr>
        <p:txBody>
          <a:bodyPr/>
          <a:lstStyle/>
          <a:p>
            <a:endParaRPr lang="fr-FR"/>
          </a:p>
        </p:txBody>
      </p:sp>
      <p:pic>
        <p:nvPicPr>
          <p:cNvPr id="21" name="Image 3" descr="preencoded.png"/>
          <p:cNvPicPr>
            <a:picLocks noChangeAspect="1"/>
          </p:cNvPicPr>
          <p:nvPr/>
        </p:nvPicPr>
        <p:blipFill>
          <a:blip r:embed="rId6"/>
          <a:stretch>
            <a:fillRect/>
          </a:stretch>
        </p:blipFill>
        <p:spPr>
          <a:xfrm>
            <a:off x="365760" y="3035808"/>
            <a:ext cx="365760" cy="365760"/>
          </a:xfrm>
          <a:prstGeom prst="rect">
            <a:avLst/>
          </a:prstGeom>
        </p:spPr>
      </p:pic>
      <p:sp>
        <p:nvSpPr>
          <p:cNvPr id="22" name="Text 16"/>
          <p:cNvSpPr/>
          <p:nvPr/>
        </p:nvSpPr>
        <p:spPr>
          <a:xfrm>
            <a:off x="822960" y="2990088"/>
            <a:ext cx="2057400" cy="411480"/>
          </a:xfrm>
          <a:prstGeom prst="rect">
            <a:avLst/>
          </a:prstGeom>
          <a:noFill/>
          <a:ln/>
        </p:spPr>
        <p:txBody>
          <a:bodyPr wrap="square" lIns="0" tIns="0" rIns="0" bIns="0" rtlCol="0" anchor="ctr"/>
          <a:lstStyle/>
          <a:p>
            <a:pPr marL="0" indent="0">
              <a:buNone/>
            </a:pPr>
            <a:r>
              <a:rPr lang="en-US" sz="1200" b="1" dirty="0">
                <a:solidFill>
                  <a:srgbClr val="1A2535"/>
                </a:solidFill>
                <a:latin typeface="Calibri" pitchFamily="34" charset="0"/>
                <a:ea typeface="Calibri" pitchFamily="34" charset="-122"/>
                <a:cs typeface="Calibri" pitchFamily="34" charset="-120"/>
              </a:rPr>
              <a:t>Notifications</a:t>
            </a:r>
            <a:endParaRPr lang="en-US" sz="1200" dirty="0"/>
          </a:p>
        </p:txBody>
      </p:sp>
      <p:sp>
        <p:nvSpPr>
          <p:cNvPr id="23" name="Text 17"/>
          <p:cNvSpPr/>
          <p:nvPr/>
        </p:nvSpPr>
        <p:spPr>
          <a:xfrm>
            <a:off x="365760" y="3493008"/>
            <a:ext cx="2523744" cy="96012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Alertes automatiques par e-mail ou SMS lors d'une mise en maintenance ou d'une anomalie.</a:t>
            </a:r>
            <a:endParaRPr lang="en-US" sz="1050" dirty="0"/>
          </a:p>
        </p:txBody>
      </p:sp>
      <p:sp>
        <p:nvSpPr>
          <p:cNvPr id="24" name="Shape 18"/>
          <p:cNvSpPr/>
          <p:nvPr/>
        </p:nvSpPr>
        <p:spPr>
          <a:xfrm>
            <a:off x="3172968" y="2898648"/>
            <a:ext cx="2743200" cy="16916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25" name="Shape 19"/>
          <p:cNvSpPr/>
          <p:nvPr/>
        </p:nvSpPr>
        <p:spPr>
          <a:xfrm>
            <a:off x="3172968" y="2898648"/>
            <a:ext cx="54864" cy="1691640"/>
          </a:xfrm>
          <a:prstGeom prst="rect">
            <a:avLst/>
          </a:prstGeom>
          <a:solidFill>
            <a:srgbClr val="E74C3C"/>
          </a:solidFill>
          <a:ln w="12700">
            <a:solidFill>
              <a:srgbClr val="E74C3C"/>
            </a:solidFill>
            <a:prstDash val="solid"/>
          </a:ln>
        </p:spPr>
        <p:txBody>
          <a:bodyPr/>
          <a:lstStyle/>
          <a:p>
            <a:endParaRPr lang="fr-FR"/>
          </a:p>
        </p:txBody>
      </p:sp>
      <p:pic>
        <p:nvPicPr>
          <p:cNvPr id="26" name="Image 4" descr="preencoded.png"/>
          <p:cNvPicPr>
            <a:picLocks noChangeAspect="1"/>
          </p:cNvPicPr>
          <p:nvPr/>
        </p:nvPicPr>
        <p:blipFill>
          <a:blip r:embed="rId7"/>
          <a:stretch>
            <a:fillRect/>
          </a:stretch>
        </p:blipFill>
        <p:spPr>
          <a:xfrm>
            <a:off x="3310128" y="3035808"/>
            <a:ext cx="365760" cy="365760"/>
          </a:xfrm>
          <a:prstGeom prst="rect">
            <a:avLst/>
          </a:prstGeom>
        </p:spPr>
      </p:pic>
      <p:sp>
        <p:nvSpPr>
          <p:cNvPr id="27" name="Text 20"/>
          <p:cNvSpPr/>
          <p:nvPr/>
        </p:nvSpPr>
        <p:spPr>
          <a:xfrm>
            <a:off x="3767328" y="2990088"/>
            <a:ext cx="2057400" cy="411480"/>
          </a:xfrm>
          <a:prstGeom prst="rect">
            <a:avLst/>
          </a:prstGeom>
          <a:noFill/>
          <a:ln/>
        </p:spPr>
        <p:txBody>
          <a:bodyPr wrap="square" lIns="0" tIns="0" rIns="0" bIns="0" rtlCol="0" anchor="ctr"/>
          <a:lstStyle/>
          <a:p>
            <a:pPr marL="0" indent="0">
              <a:buNone/>
            </a:pPr>
            <a:r>
              <a:rPr lang="en-US" sz="1200" b="1" dirty="0">
                <a:solidFill>
                  <a:srgbClr val="1A2535"/>
                </a:solidFill>
                <a:latin typeface="Calibri" pitchFamily="34" charset="0"/>
                <a:ea typeface="Calibri" pitchFamily="34" charset="-122"/>
                <a:cs typeface="Calibri" pitchFamily="34" charset="-120"/>
              </a:rPr>
              <a:t>Rôles Granulaires</a:t>
            </a:r>
            <a:endParaRPr lang="en-US" sz="1200" dirty="0"/>
          </a:p>
        </p:txBody>
      </p:sp>
      <p:sp>
        <p:nvSpPr>
          <p:cNvPr id="28" name="Text 21"/>
          <p:cNvSpPr/>
          <p:nvPr/>
        </p:nvSpPr>
        <p:spPr>
          <a:xfrm>
            <a:off x="3310128" y="3493008"/>
            <a:ext cx="2523744" cy="96012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Utiliser les groupes Django pour des profils plus fins (superviseur, gestionnaire de région, etc.).</a:t>
            </a:r>
            <a:endParaRPr lang="en-US" sz="1050" dirty="0"/>
          </a:p>
        </p:txBody>
      </p:sp>
      <p:sp>
        <p:nvSpPr>
          <p:cNvPr id="29" name="Shape 22"/>
          <p:cNvSpPr/>
          <p:nvPr/>
        </p:nvSpPr>
        <p:spPr>
          <a:xfrm>
            <a:off x="6117336" y="2898648"/>
            <a:ext cx="2743200" cy="1691640"/>
          </a:xfrm>
          <a:prstGeom prst="rect">
            <a:avLst/>
          </a:prstGeom>
          <a:solidFill>
            <a:srgbClr val="F5F7FA"/>
          </a:solidFill>
          <a:ln w="6350">
            <a:solidFill>
              <a:srgbClr val="E0E6EF"/>
            </a:solidFill>
            <a:prstDash val="solid"/>
          </a:ln>
          <a:effectLst>
            <a:outerShdw blurRad="101600" dist="38100" dir="8100000" algn="bl" rotWithShape="0">
              <a:srgbClr val="000000">
                <a:alpha val="12000"/>
              </a:srgbClr>
            </a:outerShdw>
          </a:effectLst>
        </p:spPr>
        <p:txBody>
          <a:bodyPr/>
          <a:lstStyle/>
          <a:p>
            <a:endParaRPr lang="fr-FR"/>
          </a:p>
        </p:txBody>
      </p:sp>
      <p:sp>
        <p:nvSpPr>
          <p:cNvPr id="30" name="Shape 23"/>
          <p:cNvSpPr/>
          <p:nvPr/>
        </p:nvSpPr>
        <p:spPr>
          <a:xfrm>
            <a:off x="6117336" y="2898648"/>
            <a:ext cx="54864" cy="1691640"/>
          </a:xfrm>
          <a:prstGeom prst="rect">
            <a:avLst/>
          </a:prstGeom>
          <a:solidFill>
            <a:srgbClr val="0D1B2A"/>
          </a:solidFill>
          <a:ln w="12700">
            <a:solidFill>
              <a:srgbClr val="0D1B2A"/>
            </a:solidFill>
            <a:prstDash val="solid"/>
          </a:ln>
        </p:spPr>
        <p:txBody>
          <a:bodyPr/>
          <a:lstStyle/>
          <a:p>
            <a:endParaRPr lang="fr-FR"/>
          </a:p>
        </p:txBody>
      </p:sp>
      <p:pic>
        <p:nvPicPr>
          <p:cNvPr id="31" name="Image 5" descr="preencoded.png"/>
          <p:cNvPicPr>
            <a:picLocks noChangeAspect="1"/>
          </p:cNvPicPr>
          <p:nvPr/>
        </p:nvPicPr>
        <p:blipFill>
          <a:blip r:embed="rId8"/>
          <a:stretch>
            <a:fillRect/>
          </a:stretch>
        </p:blipFill>
        <p:spPr>
          <a:xfrm>
            <a:off x="6254496" y="3035808"/>
            <a:ext cx="365760" cy="365760"/>
          </a:xfrm>
          <a:prstGeom prst="rect">
            <a:avLst/>
          </a:prstGeom>
        </p:spPr>
      </p:pic>
      <p:sp>
        <p:nvSpPr>
          <p:cNvPr id="32" name="Text 24"/>
          <p:cNvSpPr/>
          <p:nvPr/>
        </p:nvSpPr>
        <p:spPr>
          <a:xfrm>
            <a:off x="6711696" y="2990088"/>
            <a:ext cx="2057400" cy="411480"/>
          </a:xfrm>
          <a:prstGeom prst="rect">
            <a:avLst/>
          </a:prstGeom>
          <a:noFill/>
          <a:ln/>
        </p:spPr>
        <p:txBody>
          <a:bodyPr wrap="square" lIns="0" tIns="0" rIns="0" bIns="0" rtlCol="0" anchor="ctr"/>
          <a:lstStyle/>
          <a:p>
            <a:pPr marL="0" indent="0">
              <a:buNone/>
            </a:pPr>
            <a:r>
              <a:rPr lang="en-US" sz="1200" b="1" dirty="0">
                <a:solidFill>
                  <a:srgbClr val="1A2535"/>
                </a:solidFill>
                <a:latin typeface="Calibri" pitchFamily="34" charset="0"/>
                <a:ea typeface="Calibri" pitchFamily="34" charset="-122"/>
                <a:cs typeface="Calibri" pitchFamily="34" charset="-120"/>
              </a:rPr>
              <a:t>Déploiement Cloud</a:t>
            </a:r>
            <a:endParaRPr lang="en-US" sz="1200" dirty="0"/>
          </a:p>
        </p:txBody>
      </p:sp>
      <p:sp>
        <p:nvSpPr>
          <p:cNvPr id="33" name="Text 25"/>
          <p:cNvSpPr/>
          <p:nvPr/>
        </p:nvSpPr>
        <p:spPr>
          <a:xfrm>
            <a:off x="6254496" y="3493008"/>
            <a:ext cx="2523744" cy="960120"/>
          </a:xfrm>
          <a:prstGeom prst="rect">
            <a:avLst/>
          </a:prstGeom>
          <a:noFill/>
          <a:ln/>
        </p:spPr>
        <p:txBody>
          <a:bodyPr wrap="square" lIns="0" tIns="0" rIns="0" bIns="0" rtlCol="0" anchor="ctr"/>
          <a:lstStyle/>
          <a:p>
            <a:pPr marL="0" indent="0">
              <a:buNone/>
            </a:pPr>
            <a:r>
              <a:rPr lang="en-US" sz="1050" dirty="0">
                <a:solidFill>
                  <a:srgbClr val="556677"/>
                </a:solidFill>
                <a:latin typeface="Calibri" pitchFamily="34" charset="0"/>
                <a:ea typeface="Calibri" pitchFamily="34" charset="-122"/>
                <a:cs typeface="Calibri" pitchFamily="34" charset="-120"/>
              </a:rPr>
              <a:t>Containerisation Docker + orchestration Nginx/Gunicorn pour un déploiement en production.</a:t>
            </a:r>
            <a:endParaRPr lang="en-US" sz="1050" dirty="0"/>
          </a:p>
        </p:txBody>
      </p:sp>
      <p:sp>
        <p:nvSpPr>
          <p:cNvPr id="34" name="Shape 26"/>
          <p:cNvSpPr/>
          <p:nvPr/>
        </p:nvSpPr>
        <p:spPr>
          <a:xfrm>
            <a:off x="0" y="4800600"/>
            <a:ext cx="9144000" cy="342900"/>
          </a:xfrm>
          <a:prstGeom prst="rect">
            <a:avLst/>
          </a:prstGeom>
          <a:solidFill>
            <a:srgbClr val="0D1B2A"/>
          </a:solidFill>
          <a:ln w="12700">
            <a:solidFill>
              <a:srgbClr val="0D1B2A"/>
            </a:solidFill>
            <a:prstDash val="solid"/>
          </a:ln>
        </p:spPr>
        <p:txBody>
          <a:bodyPr/>
          <a:lstStyle/>
          <a:p>
            <a:endParaRPr lang="fr-FR"/>
          </a:p>
        </p:txBody>
      </p:sp>
      <p:sp>
        <p:nvSpPr>
          <p:cNvPr id="35" name="Text 27"/>
          <p:cNvSpPr/>
          <p:nvPr/>
        </p:nvSpPr>
        <p:spPr>
          <a:xfrm>
            <a:off x="274320" y="4809744"/>
            <a:ext cx="8595360" cy="329184"/>
          </a:xfrm>
          <a:prstGeom prst="rect">
            <a:avLst/>
          </a:prstGeom>
          <a:noFill/>
          <a:ln/>
        </p:spPr>
        <p:txBody>
          <a:bodyPr wrap="square" lIns="0" tIns="0" rIns="0" bIns="0" rtlCol="0" anchor="ctr"/>
          <a:lstStyle/>
          <a:p>
            <a:pPr marL="0" indent="0">
              <a:buNone/>
            </a:pPr>
            <a:r>
              <a:rPr lang="en-US" sz="1000" dirty="0">
                <a:solidFill>
                  <a:srgbClr val="90A4AE"/>
                </a:solidFill>
                <a:latin typeface="Calibri" pitchFamily="34" charset="0"/>
                <a:ea typeface="Calibri" pitchFamily="34" charset="-122"/>
                <a:cs typeface="Calibri" pitchFamily="34" charset="-120"/>
              </a:rPr>
              <a:t>ElectroCharge  |  Perspectives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5000"/>
          </a:blip>
          <a:stretch>
            <a:fillRect/>
          </a:stretch>
        </p:blipFill>
        <p:spPr>
          <a:xfrm>
            <a:off x="6400800" y="365760"/>
            <a:ext cx="2286000" cy="2286000"/>
          </a:xfrm>
          <a:prstGeom prst="rect">
            <a:avLst/>
          </a:prstGeom>
        </p:spPr>
      </p:pic>
      <p:sp>
        <p:nvSpPr>
          <p:cNvPr id="3" name="Shape 0"/>
          <p:cNvSpPr/>
          <p:nvPr/>
        </p:nvSpPr>
        <p:spPr>
          <a:xfrm>
            <a:off x="0" y="0"/>
            <a:ext cx="109728" cy="5143500"/>
          </a:xfrm>
          <a:prstGeom prst="rect">
            <a:avLst/>
          </a:prstGeom>
          <a:solidFill>
            <a:srgbClr val="1E88E5"/>
          </a:solidFill>
          <a:ln w="12700">
            <a:solidFill>
              <a:srgbClr val="1E88E5"/>
            </a:solidFill>
            <a:prstDash val="solid"/>
          </a:ln>
        </p:spPr>
        <p:txBody>
          <a:bodyPr/>
          <a:lstStyle/>
          <a:p>
            <a:endParaRPr lang="fr-FR"/>
          </a:p>
        </p:txBody>
      </p:sp>
      <p:sp>
        <p:nvSpPr>
          <p:cNvPr id="4" name="Text 1"/>
          <p:cNvSpPr/>
          <p:nvPr/>
        </p:nvSpPr>
        <p:spPr>
          <a:xfrm>
            <a:off x="320040" y="1097280"/>
            <a:ext cx="82296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Merci de votre attention</a:t>
            </a:r>
            <a:endParaRPr lang="en-US" sz="4000" dirty="0"/>
          </a:p>
        </p:txBody>
      </p:sp>
      <p:sp>
        <p:nvSpPr>
          <p:cNvPr id="5" name="Text 2"/>
          <p:cNvSpPr/>
          <p:nvPr/>
        </p:nvSpPr>
        <p:spPr>
          <a:xfrm>
            <a:off x="320040" y="2103120"/>
            <a:ext cx="6400800" cy="640080"/>
          </a:xfrm>
          <a:prstGeom prst="rect">
            <a:avLst/>
          </a:prstGeom>
          <a:noFill/>
          <a:ln/>
        </p:spPr>
        <p:txBody>
          <a:bodyPr wrap="square" lIns="0" tIns="0" rIns="0" bIns="0" rtlCol="0" anchor="ctr"/>
          <a:lstStyle/>
          <a:p>
            <a:pPr marL="0" indent="0">
              <a:buNone/>
            </a:pPr>
            <a:r>
              <a:rPr lang="en-US" sz="2200" dirty="0">
                <a:solidFill>
                  <a:srgbClr val="E3F2FD"/>
                </a:solidFill>
                <a:latin typeface="Calibri" pitchFamily="34" charset="0"/>
                <a:ea typeface="Calibri" pitchFamily="34" charset="-122"/>
                <a:cs typeface="Calibri" pitchFamily="34" charset="-120"/>
              </a:rPr>
              <a:t>Questions &amp; Échanges</a:t>
            </a:r>
            <a:endParaRPr lang="en-US" sz="2200" dirty="0"/>
          </a:p>
        </p:txBody>
      </p:sp>
      <p:sp>
        <p:nvSpPr>
          <p:cNvPr id="6" name="Shape 3"/>
          <p:cNvSpPr/>
          <p:nvPr/>
        </p:nvSpPr>
        <p:spPr>
          <a:xfrm>
            <a:off x="320040" y="2926080"/>
            <a:ext cx="2560320" cy="822960"/>
          </a:xfrm>
          <a:prstGeom prst="rect">
            <a:avLst/>
          </a:prstGeom>
          <a:solidFill>
            <a:srgbClr val="1565C0">
              <a:alpha val="50000"/>
            </a:srgbClr>
          </a:solidFill>
          <a:ln w="6350">
            <a:solidFill>
              <a:srgbClr val="1E88E5"/>
            </a:solidFill>
            <a:prstDash val="solid"/>
          </a:ln>
        </p:spPr>
        <p:txBody>
          <a:bodyPr/>
          <a:lstStyle/>
          <a:p>
            <a:endParaRPr lang="fr-FR"/>
          </a:p>
        </p:txBody>
      </p:sp>
      <p:sp>
        <p:nvSpPr>
          <p:cNvPr id="7" name="Text 4"/>
          <p:cNvSpPr/>
          <p:nvPr/>
        </p:nvSpPr>
        <p:spPr>
          <a:xfrm>
            <a:off x="320040" y="2944368"/>
            <a:ext cx="2560320" cy="34747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Projet</a:t>
            </a:r>
            <a:endParaRPr lang="en-US" sz="1000" dirty="0"/>
          </a:p>
        </p:txBody>
      </p:sp>
      <p:sp>
        <p:nvSpPr>
          <p:cNvPr id="8" name="Text 5"/>
          <p:cNvSpPr/>
          <p:nvPr/>
        </p:nvSpPr>
        <p:spPr>
          <a:xfrm>
            <a:off x="320040" y="3291840"/>
            <a:ext cx="25603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ElectroCharge</a:t>
            </a:r>
            <a:endParaRPr lang="en-US" sz="1300" dirty="0"/>
          </a:p>
        </p:txBody>
      </p:sp>
      <p:sp>
        <p:nvSpPr>
          <p:cNvPr id="9" name="Shape 6"/>
          <p:cNvSpPr/>
          <p:nvPr/>
        </p:nvSpPr>
        <p:spPr>
          <a:xfrm>
            <a:off x="3200400" y="2926080"/>
            <a:ext cx="2560320" cy="822960"/>
          </a:xfrm>
          <a:prstGeom prst="rect">
            <a:avLst/>
          </a:prstGeom>
          <a:solidFill>
            <a:srgbClr val="1565C0">
              <a:alpha val="50000"/>
            </a:srgbClr>
          </a:solidFill>
          <a:ln w="6350">
            <a:solidFill>
              <a:srgbClr val="1E88E5"/>
            </a:solidFill>
            <a:prstDash val="solid"/>
          </a:ln>
        </p:spPr>
        <p:txBody>
          <a:bodyPr/>
          <a:lstStyle/>
          <a:p>
            <a:endParaRPr lang="fr-FR"/>
          </a:p>
        </p:txBody>
      </p:sp>
      <p:sp>
        <p:nvSpPr>
          <p:cNvPr id="10" name="Text 7"/>
          <p:cNvSpPr/>
          <p:nvPr/>
        </p:nvSpPr>
        <p:spPr>
          <a:xfrm>
            <a:off x="3200400" y="2944368"/>
            <a:ext cx="2560320" cy="34747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Version</a:t>
            </a:r>
            <a:endParaRPr lang="en-US" sz="1000" dirty="0"/>
          </a:p>
        </p:txBody>
      </p:sp>
      <p:sp>
        <p:nvSpPr>
          <p:cNvPr id="11" name="Text 8"/>
          <p:cNvSpPr/>
          <p:nvPr/>
        </p:nvSpPr>
        <p:spPr>
          <a:xfrm>
            <a:off x="3200400" y="3291840"/>
            <a:ext cx="25603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 – Mai 2026</a:t>
            </a:r>
            <a:endParaRPr lang="en-US" sz="1300" dirty="0"/>
          </a:p>
        </p:txBody>
      </p:sp>
      <p:sp>
        <p:nvSpPr>
          <p:cNvPr id="12" name="Shape 9"/>
          <p:cNvSpPr/>
          <p:nvPr/>
        </p:nvSpPr>
        <p:spPr>
          <a:xfrm>
            <a:off x="6080760" y="2926080"/>
            <a:ext cx="2560320" cy="822960"/>
          </a:xfrm>
          <a:prstGeom prst="rect">
            <a:avLst/>
          </a:prstGeom>
          <a:solidFill>
            <a:srgbClr val="1565C0">
              <a:alpha val="50000"/>
            </a:srgbClr>
          </a:solidFill>
          <a:ln w="6350">
            <a:solidFill>
              <a:srgbClr val="1E88E5"/>
            </a:solidFill>
            <a:prstDash val="solid"/>
          </a:ln>
        </p:spPr>
        <p:txBody>
          <a:bodyPr/>
          <a:lstStyle/>
          <a:p>
            <a:endParaRPr lang="fr-FR"/>
          </a:p>
        </p:txBody>
      </p:sp>
      <p:sp>
        <p:nvSpPr>
          <p:cNvPr id="13" name="Text 10"/>
          <p:cNvSpPr/>
          <p:nvPr/>
        </p:nvSpPr>
        <p:spPr>
          <a:xfrm>
            <a:off x="6080760" y="2944368"/>
            <a:ext cx="2560320" cy="34747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Stack</a:t>
            </a:r>
            <a:endParaRPr lang="en-US" sz="1000" dirty="0"/>
          </a:p>
        </p:txBody>
      </p:sp>
      <p:sp>
        <p:nvSpPr>
          <p:cNvPr id="14" name="Text 11"/>
          <p:cNvSpPr/>
          <p:nvPr/>
        </p:nvSpPr>
        <p:spPr>
          <a:xfrm>
            <a:off x="6080760" y="3291840"/>
            <a:ext cx="25603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Django / Bootstrap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1309</Words>
  <Application>Microsoft Office PowerPoint</Application>
  <PresentationFormat>Affichage à l'écran (16:9)</PresentationFormat>
  <Paragraphs>234</Paragraphs>
  <Slides>25</Slides>
  <Notes>25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25</vt:i4>
      </vt:variant>
    </vt:vector>
  </HeadingPairs>
  <TitlesOfParts>
    <vt:vector size="29"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ElectroCharge – Présentation Technique</dc:title>
  <dc:subject>PptxGenJS Presentation</dc:subject>
  <dc:creator>PptxGenJS</dc:creator>
  <cp:lastModifiedBy>Tahfi Med amine</cp:lastModifiedBy>
  <cp:revision>2</cp:revision>
  <dcterms:created xsi:type="dcterms:W3CDTF">2026-05-11T19:26:23Z</dcterms:created>
  <dcterms:modified xsi:type="dcterms:W3CDTF">2026-05-11T19:43:09Z</dcterms:modified>
</cp:coreProperties>
</file>